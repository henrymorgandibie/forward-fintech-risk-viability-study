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1924" autoAdjust="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9C1BB-DB45-4EFF-8186-DC48E2A59DD9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BFCBF8-B5BE-4D77-9512-CA18F626A55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75268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We must start by acknowledging the harsh reality: our current operational risk profile results in a 3-year loss of over $6.7 million. The math is simple—we are losing $72,000 every month. To solve this, we cannot rely on marginal improvements; we need a fundamental shift in how we assess and filter risk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BFCBF8-B5BE-4D77-9512-CA18F626A559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069494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good news is that we now have a highly reliable tool. The new Logistic Regression model achieves an AUC of 0.8820. This is the technical confidence we need to proceed with a drastic strategy, knowing the model's predictions are accurate and trustworthy. We can now trust the insights it provides.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BFCBF8-B5BE-4D77-9512-CA18F626A559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96701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slide details what drives the risk. The two biggest red flags are Max Days in Arrears and Max Utilization. This means the model is telling us: </a:t>
            </a:r>
            <a:r>
              <a:rPr lang="en-GB" b="1" dirty="0"/>
              <a:t>If a borrower is already struggling to meet payments and is maxing out their available credit, they are highly likely to default.</a:t>
            </a:r>
            <a:r>
              <a:rPr lang="en-GB" dirty="0"/>
              <a:t> We must use this insight to identify and filter the riskiest segment.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BFCBF8-B5BE-4D77-9512-CA18F626A559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1017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is the core discovery of the V3.0 analysis. The segmentation is now extremely decisive. Segment 0 is an existential threat: </a:t>
            </a:r>
            <a:r>
              <a:rPr lang="en-GB" b="1" dirty="0"/>
              <a:t>40% of our applicants are driving an 86% default rate.</a:t>
            </a:r>
            <a:r>
              <a:rPr lang="en-GB" dirty="0"/>
              <a:t> There is no pricing adjustment that can make this profitable. This concentration of loss leads directly to our key strategic recommendation on the next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BFCBF8-B5BE-4D77-9512-CA18F626A559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066726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is the pivot. </a:t>
            </a:r>
            <a:r>
              <a:rPr lang="en-GB" b="1" dirty="0"/>
              <a:t>Action 1</a:t>
            </a:r>
            <a:r>
              <a:rPr lang="en-GB" dirty="0"/>
              <a:t> is the single most important action: we must implement an immediate, hard cut-off for the Segment 0 profile. This move, supported by the V3 model's 0.88 AUC, is the only way to shift our business from negative NPV to a financially viable path, as the next slide on Scenario Analysis will demonstrate.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BFCBF8-B5BE-4D77-9512-CA18F626A559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331128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is the bottom line. By filtering Segment 0, we can immediately bring our default rate down and push our financial outlook into the positive. This strategic cut-off is the single, most impactful decision we can make based on the V3 model results to achieve profitability.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BFCBF8-B5BE-4D77-9512-CA18F626A559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1440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87B60-4E87-40E8-B438-6067D9405ECF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57044-4B68-4F23-80B7-451860C7D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903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87B60-4E87-40E8-B438-6067D9405ECF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57044-4B68-4F23-80B7-451860C7D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52814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87B60-4E87-40E8-B438-6067D9405ECF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57044-4B68-4F23-80B7-451860C7D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04553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87B60-4E87-40E8-B438-6067D9405ECF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57044-4B68-4F23-80B7-451860C7D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47713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87B60-4E87-40E8-B438-6067D9405ECF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57044-4B68-4F23-80B7-451860C7D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08131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87B60-4E87-40E8-B438-6067D9405ECF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57044-4B68-4F23-80B7-451860C7D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44692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87B60-4E87-40E8-B438-6067D9405ECF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57044-4B68-4F23-80B7-451860C7D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16235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87B60-4E87-40E8-B438-6067D9405ECF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57044-4B68-4F23-80B7-451860C7D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55770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87B60-4E87-40E8-B438-6067D9405ECF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57044-4B68-4F23-80B7-451860C7D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84781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87B60-4E87-40E8-B438-6067D9405ECF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57044-4B68-4F23-80B7-451860C7D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48893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87B60-4E87-40E8-B438-6067D9405ECF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57044-4B68-4F23-80B7-451860C7D5A7}" type="slidenum">
              <a:rPr lang="en-CA" smtClean="0"/>
              <a:t>‹#›</a:t>
            </a:fld>
            <a:endParaRPr lang="en-CA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467413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87B60-4E87-40E8-B438-6067D9405ECF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57044-4B68-4F23-80B7-451860C7D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151743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87B60-4E87-40E8-B438-6067D9405ECF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57044-4B68-4F23-80B7-451860C7D5A7}" type="slidenum">
              <a:rPr lang="en-CA" smtClean="0"/>
              <a:t>‹#›</a:t>
            </a:fld>
            <a:endParaRPr lang="en-CA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724943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87B60-4E87-40E8-B438-6067D9405ECF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57044-4B68-4F23-80B7-451860C7D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087715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87B60-4E87-40E8-B438-6067D9405ECF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57044-4B68-4F23-80B7-451860C7D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59230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87B60-4E87-40E8-B438-6067D9405ECF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57044-4B68-4F23-80B7-451860C7D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66577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D87B60-4E87-40E8-B438-6067D9405ECF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8E57044-4B68-4F23-80B7-451860C7D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84837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  <p:sldLayoutId id="2147483752" r:id="rId12"/>
    <p:sldLayoutId id="2147483753" r:id="rId13"/>
    <p:sldLayoutId id="2147483754" r:id="rId14"/>
    <p:sldLayoutId id="2147483755" r:id="rId15"/>
    <p:sldLayoutId id="214748375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F5FB3-ED2D-8E45-6342-C3D559858D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Achieving Profitability: Risk Model V3.0 Findings &amp; Strategic Cut-Off Recommendation</a:t>
            </a:r>
            <a:endParaRPr lang="en-CA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182E1E-7F25-3EC6-0500-D03741D6B0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dirty="0"/>
              <a:t>Moving from Marginal Pricing Adjustments to Strategic Risk Filtering</a:t>
            </a:r>
          </a:p>
          <a:p>
            <a:endParaRPr lang="en-GB" dirty="0"/>
          </a:p>
          <a:p>
            <a:pPr algn="l"/>
            <a:r>
              <a:rPr lang="en-GB" dirty="0"/>
              <a:t>Prepared by: Henry C. Dibie</a:t>
            </a:r>
          </a:p>
          <a:p>
            <a:pPr algn="l"/>
            <a:r>
              <a:rPr lang="en-GB" dirty="0"/>
              <a:t>Date: November 2025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37966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06200-8E72-E3C0-3DB0-295181805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Baseline Challenge: Current Unprofitability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0535F-E97B-7FCA-3BA3-764C550B6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995511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GB" b="1" dirty="0"/>
              <a:t>My objective is to reduce the default rate below the 3.75% break-even threshold to achieve positive Net Present Value (NPV).</a:t>
            </a:r>
          </a:p>
          <a:p>
            <a:pPr marL="0" indent="0" algn="ctr">
              <a:buNone/>
            </a:pPr>
            <a:r>
              <a:rPr lang="en-CA" dirty="0"/>
              <a:t>Key Metrics (Baseline)</a:t>
            </a:r>
            <a:endParaRPr lang="en-GB" dirty="0"/>
          </a:p>
          <a:p>
            <a:r>
              <a:rPr lang="en-GB" b="1" dirty="0"/>
              <a:t>Monthly Profit:</a:t>
            </a:r>
            <a:r>
              <a:rPr lang="en-GB" dirty="0"/>
              <a:t> </a:t>
            </a:r>
            <a:r>
              <a:rPr lang="en-GB" b="1" dirty="0"/>
              <a:t>$-$72,000</a:t>
            </a:r>
            <a:endParaRPr lang="en-GB" dirty="0"/>
          </a:p>
          <a:p>
            <a:r>
              <a:rPr lang="en-GB" b="1" dirty="0"/>
              <a:t>3-Year NPV:</a:t>
            </a:r>
            <a:r>
              <a:rPr lang="en-GB" dirty="0"/>
              <a:t> </a:t>
            </a:r>
            <a:r>
              <a:rPr lang="en-GB" b="1" dirty="0"/>
              <a:t>$-$6,745,425</a:t>
            </a:r>
            <a:endParaRPr lang="en-GB" dirty="0"/>
          </a:p>
          <a:p>
            <a:r>
              <a:rPr lang="en-GB" b="1" dirty="0"/>
              <a:t>Break-even Default Rate:</a:t>
            </a:r>
            <a:r>
              <a:rPr lang="en-GB" dirty="0"/>
              <a:t> </a:t>
            </a:r>
            <a:r>
              <a:rPr lang="en-GB" b="1" dirty="0"/>
              <a:t>3.75%</a:t>
            </a:r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pPr marL="0" indent="0">
              <a:buNone/>
            </a:pPr>
            <a:r>
              <a:rPr lang="en-GB" i="1" dirty="0"/>
              <a:t>My current operations run at an estimated 6.0% default rate, which is unsustainable and requires a definitive, decisive intervention.</a:t>
            </a:r>
            <a:endParaRPr lang="en-GB" b="1" i="1" dirty="0"/>
          </a:p>
        </p:txBody>
      </p:sp>
    </p:spTree>
    <p:extLst>
      <p:ext uri="{BB962C8B-B14F-4D97-AF65-F5344CB8AC3E}">
        <p14:creationId xmlns:p14="http://schemas.microsoft.com/office/powerpoint/2010/main" val="3898542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F17D3-3B0F-BEBF-DF36-02EF3FC6D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V3.0 Pipeline Validation: Achieving Reliable Risk Prediction</a:t>
            </a:r>
            <a:endParaRPr lang="en-CA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B988DE5-483E-3B8A-EEDC-D88CDBA7A8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9794661"/>
              </p:ext>
            </p:extLst>
          </p:nvPr>
        </p:nvGraphicFramePr>
        <p:xfrm>
          <a:off x="677863" y="2318226"/>
          <a:ext cx="8596312" cy="4114800"/>
        </p:xfrm>
        <a:graphic>
          <a:graphicData uri="http://schemas.openxmlformats.org/drawingml/2006/table">
            <a:tbl>
              <a:tblPr/>
              <a:tblGrid>
                <a:gridCol w="4298156">
                  <a:extLst>
                    <a:ext uri="{9D8B030D-6E8A-4147-A177-3AD203B41FA5}">
                      <a16:colId xmlns:a16="http://schemas.microsoft.com/office/drawing/2014/main" val="2865586372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36397802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Key Metric</a:t>
                      </a:r>
                      <a:endParaRPr lang="en-C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ROC AUC Score: 0.8820</a:t>
                      </a:r>
                      <a:endParaRPr lang="en-C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8513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Interpretation</a:t>
                      </a:r>
                      <a:endParaRPr lang="en-CA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dirty="0"/>
                    </a:p>
                    <a:p>
                      <a:pPr>
                        <a:buNone/>
                      </a:pPr>
                      <a:r>
                        <a:rPr lang="en-GB" dirty="0"/>
                        <a:t>An Area Under the Curve (AUC) of 0.8820 demonstrates </a:t>
                      </a:r>
                      <a:r>
                        <a:rPr lang="en-GB" b="1" dirty="0"/>
                        <a:t>excellent discrimination</a:t>
                      </a:r>
                      <a:r>
                        <a:rPr lang="en-GB" dirty="0"/>
                        <a:t>. The model can reliably distinguish between a defaulting borrower and a non-defaulting borrower.</a:t>
                      </a:r>
                    </a:p>
                    <a:p>
                      <a:pPr>
                        <a:buNone/>
                      </a:pPr>
                      <a:endParaRPr lang="en-GB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55498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Technical Confidence</a:t>
                      </a:r>
                      <a:endParaRPr lang="en-C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The V3.0 model uses a governed pipeline, protecting against data leakage and ensuring the saved model (</a:t>
                      </a:r>
                      <a:r>
                        <a:rPr lang="en-GB" dirty="0">
                          <a:latin typeface="Courier New" panose="02070309020205020404" pitchFamily="49" charset="0"/>
                        </a:rPr>
                        <a:t>risk_model_v3.pkl</a:t>
                      </a:r>
                      <a:r>
                        <a:rPr lang="en-GB" dirty="0"/>
                        <a:t>) and scaler are production-ready.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6868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5149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FA3AD-BEC4-3F5B-4D96-9DF15B6E2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Insight 1: Primary Risk Drivers Are Traditional Signals</a:t>
            </a:r>
            <a:endParaRPr lang="en-CA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42476F5-3209-EBA3-BC32-ED73F59ED4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958391"/>
              </p:ext>
            </p:extLst>
          </p:nvPr>
        </p:nvGraphicFramePr>
        <p:xfrm>
          <a:off x="1467409" y="2123219"/>
          <a:ext cx="7017220" cy="4413376"/>
        </p:xfrm>
        <a:graphic>
          <a:graphicData uri="http://schemas.openxmlformats.org/drawingml/2006/table">
            <a:tbl>
              <a:tblPr/>
              <a:tblGrid>
                <a:gridCol w="3508610">
                  <a:extLst>
                    <a:ext uri="{9D8B030D-6E8A-4147-A177-3AD203B41FA5}">
                      <a16:colId xmlns:a16="http://schemas.microsoft.com/office/drawing/2014/main" val="1620728165"/>
                    </a:ext>
                  </a:extLst>
                </a:gridCol>
                <a:gridCol w="3508610">
                  <a:extLst>
                    <a:ext uri="{9D8B030D-6E8A-4147-A177-3AD203B41FA5}">
                      <a16:colId xmlns:a16="http://schemas.microsoft.com/office/drawing/2014/main" val="465622801"/>
                    </a:ext>
                  </a:extLst>
                </a:gridCol>
              </a:tblGrid>
              <a:tr h="7464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500" b="1"/>
                        <a:t>Finding</a:t>
                      </a:r>
                      <a:endParaRPr lang="en-CA" sz="1500"/>
                    </a:p>
                  </a:txBody>
                  <a:tcPr marL="74643" marR="74643" marT="37322" marB="373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/>
                        <a:t>Contrary to my initial hypothesis, traditional credit </a:t>
                      </a:r>
                      <a:r>
                        <a:rPr lang="en-GB" sz="1500" dirty="0" err="1"/>
                        <a:t>behaviors</a:t>
                      </a:r>
                      <a:r>
                        <a:rPr lang="en-GB" sz="1500" dirty="0"/>
                        <a:t> are the most predictive risk drivers.</a:t>
                      </a:r>
                    </a:p>
                    <a:p>
                      <a:pPr>
                        <a:buNone/>
                      </a:pPr>
                      <a:endParaRPr lang="en-GB" sz="1500" dirty="0"/>
                    </a:p>
                  </a:txBody>
                  <a:tcPr marL="74643" marR="74643" marT="37322" marB="373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5038475"/>
                  </a:ext>
                </a:extLst>
              </a:tr>
              <a:tr h="11942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500" b="1" dirty="0"/>
                        <a:t>Top Predictors (Highest Risk)</a:t>
                      </a:r>
                      <a:endParaRPr lang="en-CA" sz="1500" dirty="0"/>
                    </a:p>
                  </a:txBody>
                  <a:tcPr marL="74643" marR="74643" marT="37322" marB="373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500" dirty="0"/>
                        <a:t>1. </a:t>
                      </a:r>
                      <a:r>
                        <a:rPr lang="en-CA" sz="1500" b="1" dirty="0"/>
                        <a:t>Max Days in Arrears</a:t>
                      </a:r>
                      <a:r>
                        <a:rPr lang="en-CA" sz="1500" dirty="0"/>
                        <a:t> (Coefficient: 1.94)</a:t>
                      </a:r>
                    </a:p>
                    <a:p>
                      <a:pPr>
                        <a:buNone/>
                      </a:pPr>
                      <a:br>
                        <a:rPr lang="en-CA" sz="1500" dirty="0"/>
                      </a:br>
                      <a:endParaRPr lang="en-CA" sz="1500" dirty="0"/>
                    </a:p>
                    <a:p>
                      <a:pPr>
                        <a:buNone/>
                      </a:pPr>
                      <a:r>
                        <a:rPr lang="en-CA" sz="1500" dirty="0"/>
                        <a:t>2. </a:t>
                      </a:r>
                      <a:r>
                        <a:rPr lang="en-CA" sz="1500" b="1" dirty="0"/>
                        <a:t>Max Utilization</a:t>
                      </a:r>
                      <a:r>
                        <a:rPr lang="en-CA" sz="1500" dirty="0"/>
                        <a:t> (Coefficient: 1.23)</a:t>
                      </a:r>
                    </a:p>
                  </a:txBody>
                  <a:tcPr marL="74643" marR="74643" marT="37322" marB="373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2226385"/>
                  </a:ext>
                </a:extLst>
              </a:tr>
              <a:tr h="7464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500" b="1" dirty="0"/>
                        <a:t>Secondary Factors</a:t>
                      </a:r>
                      <a:endParaRPr lang="en-CA" sz="1500" dirty="0"/>
                    </a:p>
                  </a:txBody>
                  <a:tcPr marL="74643" marR="74643" marT="37322" marB="373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/>
                        <a:t>Cashflow Volatility and Avg. Payment Speed contribute, but are secondary to actual repayment distress.</a:t>
                      </a:r>
                    </a:p>
                    <a:p>
                      <a:pPr>
                        <a:buNone/>
                      </a:pPr>
                      <a:endParaRPr lang="en-GB" sz="1500" dirty="0"/>
                    </a:p>
                  </a:txBody>
                  <a:tcPr marL="74643" marR="74643" marT="37322" marB="373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116744"/>
                  </a:ext>
                </a:extLst>
              </a:tr>
              <a:tr h="11942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500" b="1"/>
                        <a:t>Conclusion</a:t>
                      </a:r>
                      <a:endParaRPr lang="en-CA" sz="1500"/>
                    </a:p>
                  </a:txBody>
                  <a:tcPr marL="74643" marR="74643" marT="37322" marB="373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/>
                        <a:t>The strategy must prioritize filtering based on </a:t>
                      </a:r>
                      <a:r>
                        <a:rPr lang="en-GB" sz="1500" b="1" dirty="0"/>
                        <a:t>clear signs of financial distress (Arrears &amp; Utilization)</a:t>
                      </a:r>
                      <a:r>
                        <a:rPr lang="en-GB" sz="1500" dirty="0"/>
                        <a:t>, using the model to identify applicants with these characteristics.</a:t>
                      </a:r>
                    </a:p>
                  </a:txBody>
                  <a:tcPr marL="74643" marR="74643" marT="37322" marB="373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9986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1571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ACAC2-246E-0974-35DD-76231D292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Insight 2: Customer Segmentation Reveals Unpriceable Risk</a:t>
            </a:r>
            <a:endParaRPr lang="en-CA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A0D03A8-61AC-5064-6BA8-EFCF725B67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6178732"/>
              </p:ext>
            </p:extLst>
          </p:nvPr>
        </p:nvGraphicFramePr>
        <p:xfrm>
          <a:off x="793377" y="2126009"/>
          <a:ext cx="8156672" cy="913226"/>
        </p:xfrm>
        <a:graphic>
          <a:graphicData uri="http://schemas.openxmlformats.org/drawingml/2006/table">
            <a:tbl>
              <a:tblPr/>
              <a:tblGrid>
                <a:gridCol w="3913701">
                  <a:extLst>
                    <a:ext uri="{9D8B030D-6E8A-4147-A177-3AD203B41FA5}">
                      <a16:colId xmlns:a16="http://schemas.microsoft.com/office/drawing/2014/main" val="1951734717"/>
                    </a:ext>
                  </a:extLst>
                </a:gridCol>
                <a:gridCol w="4242971">
                  <a:extLst>
                    <a:ext uri="{9D8B030D-6E8A-4147-A177-3AD203B41FA5}">
                      <a16:colId xmlns:a16="http://schemas.microsoft.com/office/drawing/2014/main" val="3866330049"/>
                    </a:ext>
                  </a:extLst>
                </a:gridCol>
              </a:tblGrid>
              <a:tr h="9026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 b="1" dirty="0"/>
                        <a:t>Segmentation Goal</a:t>
                      </a:r>
                      <a:endParaRPr lang="en-CA" sz="1800" dirty="0"/>
                    </a:p>
                  </a:txBody>
                  <a:tcPr marL="90266" marR="90266" marT="45133" marB="451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Use K-Means clustering on core risk features to group customers by intrinsic risk profile.</a:t>
                      </a:r>
                    </a:p>
                  </a:txBody>
                  <a:tcPr marL="90266" marR="90266" marT="45133" marB="451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048033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3FDFFB9-28D3-15F5-2053-B2FB185481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993973"/>
              </p:ext>
            </p:extLst>
          </p:nvPr>
        </p:nvGraphicFramePr>
        <p:xfrm>
          <a:off x="1036917" y="3818766"/>
          <a:ext cx="81280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3304514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6782582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73138735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70280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Risk Profile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="1" dirty="0"/>
                        <a:t>Default Rate (DR)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b="1" dirty="0"/>
                        <a:t>% of Volume</a:t>
                      </a:r>
                      <a:endParaRPr lang="en-CA" dirty="0"/>
                    </a:p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250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Segment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CRITICAL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86.1%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40%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290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Segment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High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61.6%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8273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Segment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Base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35.8%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40%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988588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E406BD4-39A0-1316-D62F-AACFFB55095F}"/>
              </a:ext>
            </a:extLst>
          </p:cNvPr>
          <p:cNvSpPr txBox="1"/>
          <p:nvPr/>
        </p:nvSpPr>
        <p:spPr>
          <a:xfrm>
            <a:off x="1036917" y="3267635"/>
            <a:ext cx="8128000" cy="376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Segment Results Table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022F49-BC9C-0FE0-99B9-536FA840B908}"/>
              </a:ext>
            </a:extLst>
          </p:cNvPr>
          <p:cNvSpPr txBox="1"/>
          <p:nvPr/>
        </p:nvSpPr>
        <p:spPr>
          <a:xfrm>
            <a:off x="551329" y="5997388"/>
            <a:ext cx="93188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The vast majority of our losses are concentrated in </a:t>
            </a:r>
            <a:r>
              <a:rPr lang="en-GB" b="1" i="1" dirty="0"/>
              <a:t>Segment 0</a:t>
            </a:r>
            <a:r>
              <a:rPr lang="en-GB" i="1" dirty="0"/>
              <a:t>, which is unpriceable at any realistic interest rate.</a:t>
            </a:r>
          </a:p>
        </p:txBody>
      </p:sp>
    </p:spTree>
    <p:extLst>
      <p:ext uri="{BB962C8B-B14F-4D97-AF65-F5344CB8AC3E}">
        <p14:creationId xmlns:p14="http://schemas.microsoft.com/office/powerpoint/2010/main" val="3372211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07821-A468-FF75-1868-8749E200E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06188"/>
            <a:ext cx="8596668" cy="1320800"/>
          </a:xfrm>
        </p:spPr>
        <p:txBody>
          <a:bodyPr/>
          <a:lstStyle/>
          <a:p>
            <a:pPr algn="ctr"/>
            <a:r>
              <a:rPr lang="en-GB" b="1" dirty="0"/>
              <a:t>Strategic Recommendation: Implement Hard Cut-Offs for Segment 0</a:t>
            </a:r>
            <a:endParaRPr lang="en-CA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B7768-4540-CEDE-72A8-CFE411C1B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22707"/>
            <a:ext cx="8596668" cy="73052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000" b="1" dirty="0"/>
              <a:t>Reduce the portfolio-wide default rate from 6.0% down to below the 3.75% break-even point.</a:t>
            </a:r>
          </a:p>
          <a:p>
            <a:endParaRPr lang="en-CA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D0FE3C6-A1F5-0FFA-5DF8-CFD3F89C95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3951038"/>
              </p:ext>
            </p:extLst>
          </p:nvPr>
        </p:nvGraphicFramePr>
        <p:xfrm>
          <a:off x="436737" y="2353236"/>
          <a:ext cx="8002096" cy="3885918"/>
        </p:xfrm>
        <a:graphic>
          <a:graphicData uri="http://schemas.openxmlformats.org/drawingml/2006/table">
            <a:tbl>
              <a:tblPr/>
              <a:tblGrid>
                <a:gridCol w="4001048">
                  <a:extLst>
                    <a:ext uri="{9D8B030D-6E8A-4147-A177-3AD203B41FA5}">
                      <a16:colId xmlns:a16="http://schemas.microsoft.com/office/drawing/2014/main" val="1704243885"/>
                    </a:ext>
                  </a:extLst>
                </a:gridCol>
                <a:gridCol w="4001048">
                  <a:extLst>
                    <a:ext uri="{9D8B030D-6E8A-4147-A177-3AD203B41FA5}">
                      <a16:colId xmlns:a16="http://schemas.microsoft.com/office/drawing/2014/main" val="4087889375"/>
                    </a:ext>
                  </a:extLst>
                </a:gridCol>
              </a:tblGrid>
              <a:tr h="13051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 dirty="0"/>
                        <a:t>Action 1: Filter (The Primary Fix)</a:t>
                      </a:r>
                      <a:endParaRPr lang="en-GB" sz="1500" dirty="0"/>
                    </a:p>
                  </a:txBody>
                  <a:tcPr marL="76107" marR="76107" marT="38053" marB="38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GB" sz="1500" dirty="0"/>
                      </a:br>
                      <a:r>
                        <a:rPr lang="en-GB" sz="1500" b="1" dirty="0"/>
                        <a:t>Target:</a:t>
                      </a:r>
                      <a:r>
                        <a:rPr lang="en-GB" sz="1500" dirty="0"/>
                        <a:t> Segment 0 (86.1% DR).</a:t>
                      </a:r>
                    </a:p>
                    <a:p>
                      <a:pPr>
                        <a:buNone/>
                      </a:pPr>
                      <a:endParaRPr lang="en-GB" sz="1500" dirty="0"/>
                    </a:p>
                    <a:p>
                      <a:pPr>
                        <a:buNone/>
                      </a:pPr>
                      <a:r>
                        <a:rPr lang="en-GB" sz="1500" b="1" dirty="0"/>
                        <a:t>Action:</a:t>
                      </a:r>
                      <a:r>
                        <a:rPr lang="en-GB" sz="1500" dirty="0"/>
                        <a:t> Implement </a:t>
                      </a:r>
                      <a:r>
                        <a:rPr lang="en-GB" sz="1500" b="1" dirty="0"/>
                        <a:t>Auto-Decline</a:t>
                      </a:r>
                      <a:r>
                        <a:rPr lang="en-GB" sz="1500" dirty="0"/>
                        <a:t> based on Segment 0 profile characteristics (High Arrears + High Utilization).</a:t>
                      </a:r>
                    </a:p>
                    <a:p>
                      <a:pPr>
                        <a:buNone/>
                      </a:pPr>
                      <a:endParaRPr lang="en-GB" sz="1500" dirty="0"/>
                    </a:p>
                  </a:txBody>
                  <a:tcPr marL="76107" marR="76107" marT="38053" marB="38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9579880"/>
                  </a:ext>
                </a:extLst>
              </a:tr>
              <a:tr h="771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/>
                        <a:t>Action 2: Price (Loss Mitigation)</a:t>
                      </a:r>
                      <a:endParaRPr lang="en-GB" sz="1500"/>
                    </a:p>
                  </a:txBody>
                  <a:tcPr marL="76107" marR="76107" marT="38053" marB="38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 dirty="0"/>
                        <a:t>Target:</a:t>
                      </a:r>
                      <a:r>
                        <a:rPr lang="en-GB" sz="1500" dirty="0"/>
                        <a:t> Segment 2 (61.6% DR).</a:t>
                      </a:r>
                      <a:br>
                        <a:rPr lang="en-GB" sz="1500" dirty="0"/>
                      </a:br>
                      <a:endParaRPr lang="en-GB" sz="1500" dirty="0"/>
                    </a:p>
                    <a:p>
                      <a:pPr>
                        <a:buNone/>
                      </a:pPr>
                      <a:r>
                        <a:rPr lang="en-GB" sz="1500" b="1" dirty="0"/>
                        <a:t>Action:</a:t>
                      </a:r>
                      <a:r>
                        <a:rPr lang="en-GB" sz="1500" dirty="0"/>
                        <a:t> Apply aggressive, risk-based pricing and restrictive credit limits.</a:t>
                      </a:r>
                    </a:p>
                  </a:txBody>
                  <a:tcPr marL="76107" marR="76107" marT="38053" marB="38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8338025"/>
                  </a:ext>
                </a:extLst>
              </a:tr>
              <a:tr h="949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/>
                        <a:t>Action 3: Retain (Core Business)</a:t>
                      </a:r>
                      <a:endParaRPr lang="en-GB" sz="1500"/>
                    </a:p>
                  </a:txBody>
                  <a:tcPr marL="76107" marR="76107" marT="38053" marB="38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GB" sz="1500" dirty="0"/>
                      </a:br>
                      <a:r>
                        <a:rPr lang="en-GB" sz="1500" b="1" dirty="0"/>
                        <a:t>Target:</a:t>
                      </a:r>
                      <a:r>
                        <a:rPr lang="en-GB" sz="1500" dirty="0"/>
                        <a:t> Segment 1 (35.8% DR).</a:t>
                      </a:r>
                    </a:p>
                    <a:p>
                      <a:pPr>
                        <a:buNone/>
                      </a:pPr>
                      <a:endParaRPr lang="en-GB" sz="1500" dirty="0"/>
                    </a:p>
                    <a:p>
                      <a:pPr>
                        <a:buNone/>
                      </a:pPr>
                      <a:r>
                        <a:rPr lang="en-GB" sz="1500" b="1" dirty="0"/>
                        <a:t>Action:</a:t>
                      </a:r>
                      <a:r>
                        <a:rPr lang="en-GB" sz="1500" dirty="0"/>
                        <a:t> Maintain standard pricing and focus retention efforts on this segment.</a:t>
                      </a:r>
                    </a:p>
                  </a:txBody>
                  <a:tcPr marL="76107" marR="76107" marT="38053" marB="38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452759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7D21562-DA49-F487-0383-B58BED5A2D7C}"/>
              </a:ext>
            </a:extLst>
          </p:cNvPr>
          <p:cNvSpPr txBox="1"/>
          <p:nvPr/>
        </p:nvSpPr>
        <p:spPr>
          <a:xfrm>
            <a:off x="8438834" y="2675965"/>
            <a:ext cx="352904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Rationale: Why Filtering Segment 0 is Non-Negotiable</a:t>
            </a:r>
          </a:p>
          <a:p>
            <a:endParaRPr lang="en-GB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Segment 0 is the single largest driver of negative NPV.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V3.0 model's high AUC (0.8820) provides the necessary confidence for immediate deployment of this filter.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41858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F0990-3FEA-6B18-5C0D-16AA7965E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Scenario Analysis: Financial Impact of Filtering</a:t>
            </a:r>
            <a:endParaRPr lang="en-CA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EB7AE84-A7E3-BC6D-2633-1080EC038D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8155581"/>
              </p:ext>
            </p:extLst>
          </p:nvPr>
        </p:nvGraphicFramePr>
        <p:xfrm>
          <a:off x="806822" y="1930400"/>
          <a:ext cx="8596668" cy="4573149"/>
        </p:xfrm>
        <a:graphic>
          <a:graphicData uri="http://schemas.openxmlformats.org/drawingml/2006/table">
            <a:tbl>
              <a:tblPr/>
              <a:tblGrid>
                <a:gridCol w="4298334">
                  <a:extLst>
                    <a:ext uri="{9D8B030D-6E8A-4147-A177-3AD203B41FA5}">
                      <a16:colId xmlns:a16="http://schemas.microsoft.com/office/drawing/2014/main" val="618731276"/>
                    </a:ext>
                  </a:extLst>
                </a:gridCol>
                <a:gridCol w="4298334">
                  <a:extLst>
                    <a:ext uri="{9D8B030D-6E8A-4147-A177-3AD203B41FA5}">
                      <a16:colId xmlns:a16="http://schemas.microsoft.com/office/drawing/2014/main" val="3970997939"/>
                    </a:ext>
                  </a:extLst>
                </a:gridCol>
              </a:tblGrid>
              <a:tr h="5040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 b="1"/>
                        <a:t>Scenario</a:t>
                      </a:r>
                      <a:endParaRPr lang="en-CA" sz="1400"/>
                    </a:p>
                  </a:txBody>
                  <a:tcPr marL="50408" marR="50408" marT="25204" marB="252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Hypothesis:</a:t>
                      </a:r>
                      <a:r>
                        <a:rPr lang="en-GB" sz="1400"/>
                        <a:t> Assume Segment 0 (40% of volume) is filtered out, dramatically lowering the portfolio default rate.</a:t>
                      </a:r>
                    </a:p>
                  </a:txBody>
                  <a:tcPr marL="50408" marR="50408" marT="25204" marB="252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1850741"/>
                  </a:ext>
                </a:extLst>
              </a:tr>
              <a:tr h="806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 b="1"/>
                        <a:t>Optimistic Case</a:t>
                      </a:r>
                      <a:endParaRPr lang="en-CA" sz="1400"/>
                    </a:p>
                  </a:txBody>
                  <a:tcPr marL="50408" marR="50408" marT="25204" marB="252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Default Rate: 4.5% (Post-Filter), Borrowers: 22,000</a:t>
                      </a:r>
                    </a:p>
                    <a:p>
                      <a:pPr>
                        <a:buNone/>
                      </a:pPr>
                      <a:br>
                        <a:rPr lang="en-GB" sz="1400"/>
                      </a:br>
                      <a:endParaRPr lang="en-GB" sz="1400"/>
                    </a:p>
                    <a:p>
                      <a:pPr>
                        <a:buNone/>
                      </a:pPr>
                      <a:r>
                        <a:rPr lang="en-GB" sz="1400" b="1"/>
                        <a:t>3-Year NPV:</a:t>
                      </a:r>
                      <a:r>
                        <a:rPr lang="en-GB" sz="1400"/>
                        <a:t> </a:t>
                      </a:r>
                      <a:r>
                        <a:rPr lang="en-GB" sz="1400" b="1"/>
                        <a:t>$750,000+ (Positive)</a:t>
                      </a:r>
                      <a:endParaRPr lang="en-GB" sz="1400"/>
                    </a:p>
                  </a:txBody>
                  <a:tcPr marL="50408" marR="50408" marT="25204" marB="252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4115238"/>
                  </a:ext>
                </a:extLst>
              </a:tr>
              <a:tr h="6553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 b="1"/>
                        <a:t>Base Case (Current)</a:t>
                      </a:r>
                      <a:endParaRPr lang="en-CA" sz="1400"/>
                    </a:p>
                  </a:txBody>
                  <a:tcPr marL="50408" marR="50408" marT="25204" marB="252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Default Rate: 6.0%, Borrowers: 20,000</a:t>
                      </a:r>
                    </a:p>
                    <a:p>
                      <a:pPr>
                        <a:buNone/>
                      </a:pPr>
                      <a:br>
                        <a:rPr lang="en-GB" sz="1400" dirty="0"/>
                      </a:br>
                      <a:endParaRPr lang="en-GB" sz="1400" dirty="0"/>
                    </a:p>
                    <a:p>
                      <a:pPr>
                        <a:buNone/>
                      </a:pPr>
                      <a:r>
                        <a:rPr lang="en-GB" sz="1400" b="1" dirty="0"/>
                        <a:t>3-Year NPV:</a:t>
                      </a:r>
                      <a:r>
                        <a:rPr lang="en-GB" sz="1400" dirty="0"/>
                        <a:t> </a:t>
                      </a:r>
                      <a:r>
                        <a:rPr lang="en-GB" sz="1400" b="1" dirty="0"/>
                        <a:t>$-$6,745,425</a:t>
                      </a:r>
                      <a:endParaRPr lang="en-GB" sz="1400" dirty="0"/>
                    </a:p>
                  </a:txBody>
                  <a:tcPr marL="50408" marR="50408" marT="25204" marB="252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19264"/>
                  </a:ext>
                </a:extLst>
              </a:tr>
              <a:tr h="957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 b="1"/>
                        <a:t>Pessimistic Case</a:t>
                      </a:r>
                      <a:endParaRPr lang="en-CA" sz="1400"/>
                    </a:p>
                  </a:txBody>
                  <a:tcPr marL="50408" marR="50408" marT="25204" marB="252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Default Rate: 7.8% (Worse-than-expected conditions), Borrowers: 18,000</a:t>
                      </a:r>
                    </a:p>
                    <a:p>
                      <a:pPr>
                        <a:buNone/>
                      </a:pPr>
                      <a:br>
                        <a:rPr lang="en-GB" sz="1400"/>
                      </a:br>
                      <a:endParaRPr lang="en-GB" sz="1400"/>
                    </a:p>
                    <a:p>
                      <a:pPr>
                        <a:buNone/>
                      </a:pPr>
                      <a:r>
                        <a:rPr lang="en-GB" sz="1400" b="1"/>
                        <a:t>3-Year NPV:</a:t>
                      </a:r>
                      <a:r>
                        <a:rPr lang="en-GB" sz="1400"/>
                        <a:t> </a:t>
                      </a:r>
                      <a:r>
                        <a:rPr lang="en-GB" sz="1400" b="1"/>
                        <a:t>$-$14,500,000</a:t>
                      </a:r>
                      <a:endParaRPr lang="en-GB" sz="1400"/>
                    </a:p>
                  </a:txBody>
                  <a:tcPr marL="50408" marR="50408" marT="25204" marB="252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7371519"/>
                  </a:ext>
                </a:extLst>
              </a:tr>
              <a:tr h="957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 b="1"/>
                        <a:t>Conclusion</a:t>
                      </a:r>
                      <a:endParaRPr lang="en-CA" sz="1400"/>
                    </a:p>
                  </a:txBody>
                  <a:tcPr marL="50408" marR="50408" marT="25204" marB="252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Filtering risk is the difference between an unprofitable loss and a million-dollar gain.</a:t>
                      </a:r>
                      <a:r>
                        <a:rPr lang="en-GB" sz="1400" dirty="0"/>
                        <a:t> Our recommendation immediately shifts the business towards the Optimistic/Base case territory.</a:t>
                      </a:r>
                    </a:p>
                  </a:txBody>
                  <a:tcPr marL="50408" marR="50408" marT="25204" marB="252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0391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461775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36</TotalTime>
  <Words>1017</Words>
  <Application>Microsoft Office PowerPoint</Application>
  <PresentationFormat>Widescreen</PresentationFormat>
  <Paragraphs>101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Courier New</vt:lpstr>
      <vt:lpstr>Trebuchet MS</vt:lpstr>
      <vt:lpstr>Wingdings 3</vt:lpstr>
      <vt:lpstr>Facet</vt:lpstr>
      <vt:lpstr>Achieving Profitability: Risk Model V3.0 Findings &amp; Strategic Cut-Off Recommendation</vt:lpstr>
      <vt:lpstr>The Baseline Challenge: Current Unprofitability</vt:lpstr>
      <vt:lpstr>V3.0 Pipeline Validation: Achieving Reliable Risk Prediction</vt:lpstr>
      <vt:lpstr>Insight 1: Primary Risk Drivers Are Traditional Signals</vt:lpstr>
      <vt:lpstr>Insight 2: Customer Segmentation Reveals Unpriceable Risk</vt:lpstr>
      <vt:lpstr>Strategic Recommendation: Implement Hard Cut-Offs for Segment 0</vt:lpstr>
      <vt:lpstr>Scenario Analysis: Financial Impact of Filtering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KingHenryMorgan</dc:creator>
  <cp:lastModifiedBy>KingHenryMorgan</cp:lastModifiedBy>
  <cp:revision>5</cp:revision>
  <dcterms:created xsi:type="dcterms:W3CDTF">2025-11-24T09:55:13Z</dcterms:created>
  <dcterms:modified xsi:type="dcterms:W3CDTF">2025-11-24T10:31:13Z</dcterms:modified>
</cp:coreProperties>
</file>