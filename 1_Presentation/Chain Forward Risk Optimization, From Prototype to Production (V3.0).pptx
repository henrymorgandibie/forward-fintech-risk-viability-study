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64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75" d="100"/>
          <a:sy n="75" d="100"/>
        </p:scale>
        <p:origin x="540" y="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9F58-840B-4A62-A2F0-7CE71CAAD50E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DF117-F93B-4A73-8763-FE9542F7A09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92717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9F58-840B-4A62-A2F0-7CE71CAAD50E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DF117-F93B-4A73-8763-FE9542F7A09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29197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9F58-840B-4A62-A2F0-7CE71CAAD50E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DF117-F93B-4A73-8763-FE9542F7A09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735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9F58-840B-4A62-A2F0-7CE71CAAD50E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DF117-F93B-4A73-8763-FE9542F7A09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81636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9F58-840B-4A62-A2F0-7CE71CAAD50E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DF117-F93B-4A73-8763-FE9542F7A09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47685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9F58-840B-4A62-A2F0-7CE71CAAD50E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DF117-F93B-4A73-8763-FE9542F7A09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48414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9F58-840B-4A62-A2F0-7CE71CAAD50E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DF117-F93B-4A73-8763-FE9542F7A09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14308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9F58-840B-4A62-A2F0-7CE71CAAD50E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DF117-F93B-4A73-8763-FE9542F7A09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52245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9F58-840B-4A62-A2F0-7CE71CAAD50E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DF117-F93B-4A73-8763-FE9542F7A09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60066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9F58-840B-4A62-A2F0-7CE71CAAD50E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DF117-F93B-4A73-8763-FE9542F7A09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58369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9F58-840B-4A62-A2F0-7CE71CAAD50E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DF117-F93B-4A73-8763-FE9542F7A09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9756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9F58-840B-4A62-A2F0-7CE71CAAD50E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DF117-F93B-4A73-8763-FE9542F7A092}" type="slidenum">
              <a:rPr lang="en-CA" smtClean="0"/>
              <a:t>‹#›</a:t>
            </a:fld>
            <a:endParaRPr lang="en-CA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109934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9F58-840B-4A62-A2F0-7CE71CAAD50E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DF117-F93B-4A73-8763-FE9542F7A09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614143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9F58-840B-4A62-A2F0-7CE71CAAD50E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DF117-F93B-4A73-8763-FE9542F7A09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131506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9F58-840B-4A62-A2F0-7CE71CAAD50E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DF117-F93B-4A73-8763-FE9542F7A09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915155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9F58-840B-4A62-A2F0-7CE71CAAD50E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DF117-F93B-4A73-8763-FE9542F7A09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969425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9F58-840B-4A62-A2F0-7CE71CAAD50E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DF117-F93B-4A73-8763-FE9542F7A09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6266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EF919F58-840B-4A62-A2F0-7CE71CAAD50E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0DF117-F93B-4A73-8763-FE9542F7A09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269537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65" r:id="rId1"/>
    <p:sldLayoutId id="2147483966" r:id="rId2"/>
    <p:sldLayoutId id="2147483967" r:id="rId3"/>
    <p:sldLayoutId id="2147483968" r:id="rId4"/>
    <p:sldLayoutId id="2147483969" r:id="rId5"/>
    <p:sldLayoutId id="2147483970" r:id="rId6"/>
    <p:sldLayoutId id="2147483971" r:id="rId7"/>
    <p:sldLayoutId id="2147483972" r:id="rId8"/>
    <p:sldLayoutId id="2147483973" r:id="rId9"/>
    <p:sldLayoutId id="2147483974" r:id="rId10"/>
    <p:sldLayoutId id="2147483975" r:id="rId11"/>
    <p:sldLayoutId id="2147483976" r:id="rId12"/>
    <p:sldLayoutId id="2147483977" r:id="rId13"/>
    <p:sldLayoutId id="2147483978" r:id="rId14"/>
    <p:sldLayoutId id="2147483979" r:id="rId15"/>
    <p:sldLayoutId id="2147483980" r:id="rId16"/>
    <p:sldLayoutId id="214748398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DC643-AB27-DC12-4B4B-A7CE9F630D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40443" y="254873"/>
            <a:ext cx="8825658" cy="2325710"/>
          </a:xfrm>
        </p:spPr>
        <p:txBody>
          <a:bodyPr>
            <a:normAutofit/>
          </a:bodyPr>
          <a:lstStyle/>
          <a:p>
            <a:r>
              <a:rPr lang="en-GB" sz="4800" b="1" dirty="0"/>
              <a:t>Chain Forward Risk Optimization: From Prototype to Production (V3.0)</a:t>
            </a:r>
            <a:endParaRPr lang="en-CA" sz="48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DE7D7D-7FF1-98DF-77DE-73B07B0ABF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8716" y="3275673"/>
            <a:ext cx="9144000" cy="1671157"/>
          </a:xfrm>
        </p:spPr>
        <p:txBody>
          <a:bodyPr>
            <a:normAutofit lnSpcReduction="10000"/>
          </a:bodyPr>
          <a:lstStyle/>
          <a:p>
            <a:r>
              <a:rPr lang="en-GB" sz="2800" dirty="0"/>
              <a:t>A Quantitative Approach to MSME Credit Risk and Value Chain Viability</a:t>
            </a:r>
          </a:p>
          <a:p>
            <a:pPr algn="l"/>
            <a:r>
              <a:rPr lang="en-GB" sz="1700" i="1" dirty="0"/>
              <a:t>Prepared by Henry C. Dibie</a:t>
            </a:r>
          </a:p>
          <a:p>
            <a:pPr algn="l"/>
            <a:r>
              <a:rPr lang="en-GB" sz="1700" dirty="0"/>
              <a:t>Date: November 2025</a:t>
            </a:r>
            <a:endParaRPr lang="en-CA" sz="17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8354B2-A2DF-40EB-3CE5-726CC0052B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702" y="535594"/>
            <a:ext cx="1855989" cy="15152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A7469F1-9637-5EEE-EF4A-6AAB8B747F74}"/>
              </a:ext>
            </a:extLst>
          </p:cNvPr>
          <p:cNvSpPr txBox="1"/>
          <p:nvPr/>
        </p:nvSpPr>
        <p:spPr>
          <a:xfrm>
            <a:off x="6782755" y="5103674"/>
            <a:ext cx="540924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Agenda:</a:t>
            </a:r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Financial Viability (Q1)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Model Evolution (V1.0 → V3.0)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Strategic Recommendations (Q2–Q4)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Systemic Risk Framework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200022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70C67-D24F-87DE-0316-63DE4167E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Is Chain Forward Financially Viable? The Critical Loss Scenario</a:t>
            </a:r>
            <a:endParaRPr lang="en-CA" b="1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C114463-91D3-B3E2-0291-9E0B655E86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1812925"/>
          </a:xfrm>
        </p:spPr>
        <p:txBody>
          <a:bodyPr/>
          <a:lstStyle/>
          <a:p>
            <a:r>
              <a:rPr lang="en-GB" dirty="0"/>
              <a:t>Base Case NPV (3 Years): </a:t>
            </a:r>
            <a:r>
              <a:rPr lang="en-GB" b="1" dirty="0"/>
              <a:t>–$6,745,425.01</a:t>
            </a:r>
          </a:p>
          <a:p>
            <a:r>
              <a:rPr lang="en-CA" dirty="0"/>
              <a:t>Monthly Net Loss: </a:t>
            </a:r>
            <a:r>
              <a:rPr lang="en-CA" b="1" dirty="0"/>
              <a:t>–$72,000.00</a:t>
            </a:r>
          </a:p>
          <a:p>
            <a:r>
              <a:rPr lang="en-GB" dirty="0"/>
              <a:t>Break-Even Default Rate: 3.75%</a:t>
            </a:r>
            <a:endParaRPr lang="en-CA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188A3C74-03A7-02B0-AD79-5D5FEB1B081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4674" y="2060575"/>
            <a:ext cx="5000625" cy="3414236"/>
          </a:xfr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1644654-4F33-0072-F776-4CA26796F770}"/>
              </a:ext>
            </a:extLst>
          </p:cNvPr>
          <p:cNvSpPr txBox="1"/>
          <p:nvPr/>
        </p:nvSpPr>
        <p:spPr>
          <a:xfrm>
            <a:off x="1257851" y="5917089"/>
            <a:ext cx="965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i="1" dirty="0"/>
              <a:t>The product is NOT viable under current projections. Viability depends entirely on active risk management to control defaults.</a:t>
            </a:r>
            <a:endParaRPr lang="en-CA" b="1" i="1" dirty="0"/>
          </a:p>
        </p:txBody>
      </p:sp>
    </p:spTree>
    <p:extLst>
      <p:ext uri="{BB962C8B-B14F-4D97-AF65-F5344CB8AC3E}">
        <p14:creationId xmlns:p14="http://schemas.microsoft.com/office/powerpoint/2010/main" val="4196343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83DBF-59BD-8256-654F-A605838ED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Problem-Solving: The Iteration that Unlocked Predictive Power</a:t>
            </a:r>
            <a:endParaRPr lang="en-CA" b="1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11720CE-BAFC-B8C2-038D-CC06F0D309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3806371"/>
              </p:ext>
            </p:extLst>
          </p:nvPr>
        </p:nvGraphicFramePr>
        <p:xfrm>
          <a:off x="1103684" y="2501900"/>
          <a:ext cx="894715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1187">
                  <a:extLst>
                    <a:ext uri="{9D8B030D-6E8A-4147-A177-3AD203B41FA5}">
                      <a16:colId xmlns:a16="http://schemas.microsoft.com/office/drawing/2014/main" val="445076499"/>
                    </a:ext>
                  </a:extLst>
                </a:gridCol>
                <a:gridCol w="4525963">
                  <a:extLst>
                    <a:ext uri="{9D8B030D-6E8A-4147-A177-3AD203B41FA5}">
                      <a16:colId xmlns:a16="http://schemas.microsoft.com/office/drawing/2014/main" val="17185433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V1.0 Prototype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V3.0 Production Candidate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5716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AUC ≈ 0.60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AUC = </a:t>
                      </a:r>
                      <a:r>
                        <a:rPr lang="en-CA" b="1" dirty="0"/>
                        <a:t>0.8820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5006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Poor segmentation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Clear High-Risk separation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1452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Target variable </a:t>
                      </a:r>
                      <a:r>
                        <a:rPr lang="en-CA" dirty="0" err="1"/>
                        <a:t>misdefined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Target re-engineered correctly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60541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Scaling issues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Standardized + validated pipeline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283047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047DC35-447A-8A8C-2081-F86E16A7E2B7}"/>
              </a:ext>
            </a:extLst>
          </p:cNvPr>
          <p:cNvSpPr txBox="1"/>
          <p:nvPr/>
        </p:nvSpPr>
        <p:spPr>
          <a:xfrm>
            <a:off x="850900" y="5523131"/>
            <a:ext cx="1031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i="1" dirty="0"/>
              <a:t>I fixed the foundational data integrity issue, moving from a coin-toss prediction to a highly reliable risk assessment</a:t>
            </a:r>
            <a:endParaRPr lang="en-CA" b="1" i="1" dirty="0"/>
          </a:p>
        </p:txBody>
      </p:sp>
    </p:spTree>
    <p:extLst>
      <p:ext uri="{BB962C8B-B14F-4D97-AF65-F5344CB8AC3E}">
        <p14:creationId xmlns:p14="http://schemas.microsoft.com/office/powerpoint/2010/main" val="3806263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88D7-C506-8C7E-B926-61FFD0CBE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V3.0 Engineering Fix: Refined Target and Scaling</a:t>
            </a:r>
            <a:endParaRPr lang="en-CA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C70E02-B61E-6D19-FD46-CB487B3147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1368425"/>
          </a:xfrm>
        </p:spPr>
        <p:txBody>
          <a:bodyPr/>
          <a:lstStyle/>
          <a:p>
            <a:pPr marL="0" indent="0" algn="ctr">
              <a:buNone/>
            </a:pPr>
            <a:r>
              <a:rPr lang="en-GB" sz="2000" b="1" dirty="0"/>
              <a:t>V1.0 Problems:</a:t>
            </a:r>
            <a:endParaRPr lang="en-GB" sz="2000" dirty="0"/>
          </a:p>
          <a:p>
            <a:r>
              <a:rPr lang="en-GB" dirty="0" err="1"/>
              <a:t>Misdefined</a:t>
            </a:r>
            <a:r>
              <a:rPr lang="en-GB" dirty="0"/>
              <a:t> Default Target</a:t>
            </a:r>
          </a:p>
          <a:p>
            <a:r>
              <a:rPr lang="en-GB" dirty="0"/>
              <a:t>Inconsistent </a:t>
            </a:r>
            <a:r>
              <a:rPr lang="en-GB" dirty="0" err="1"/>
              <a:t>Max_Utilization</a:t>
            </a:r>
            <a:r>
              <a:rPr lang="en-GB" dirty="0"/>
              <a:t> scaling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F35A09F-C9A2-3319-C16F-4B1A1F19D3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54493" y="2056093"/>
            <a:ext cx="4396341" cy="3062008"/>
          </a:xfrm>
        </p:spPr>
        <p:txBody>
          <a:bodyPr/>
          <a:lstStyle/>
          <a:p>
            <a:pPr marL="0" indent="0" algn="ctr">
              <a:buNone/>
            </a:pPr>
            <a:r>
              <a:rPr lang="en-GB" sz="2000" b="1" dirty="0"/>
              <a:t>V3.0 Solutions:</a:t>
            </a:r>
            <a:endParaRPr lang="en-GB" sz="2000" dirty="0"/>
          </a:p>
          <a:p>
            <a:r>
              <a:rPr lang="en-GB" b="1" dirty="0"/>
              <a:t>Robust Target Definition</a:t>
            </a:r>
            <a:r>
              <a:rPr lang="en-GB" dirty="0"/>
              <a:t> (stricter repayment window)</a:t>
            </a:r>
          </a:p>
          <a:p>
            <a:r>
              <a:rPr lang="en-GB" b="1" dirty="0"/>
              <a:t>Data Validation Layer</a:t>
            </a:r>
            <a:r>
              <a:rPr lang="en-GB" dirty="0"/>
              <a:t> (normalization + leakage prevention)</a:t>
            </a:r>
          </a:p>
          <a:p>
            <a:r>
              <a:rPr lang="en-GB" b="1" dirty="0"/>
              <a:t>Serialization for Deployment</a:t>
            </a:r>
            <a:r>
              <a:rPr lang="en-GB" dirty="0"/>
              <a:t> (.</a:t>
            </a:r>
            <a:r>
              <a:rPr lang="en-GB" dirty="0" err="1"/>
              <a:t>pkl</a:t>
            </a:r>
            <a:r>
              <a:rPr lang="en-GB" dirty="0"/>
              <a:t> model + scaler)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9C3A890-EFB4-7C59-5478-C0CADDB578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6246" y="4779122"/>
            <a:ext cx="7299507" cy="1824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9035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8B2C33E7-E31F-E6D3-2E89-053587F75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Key Risk Drivers: What Predicts MSME Default?</a:t>
            </a:r>
            <a:endParaRPr lang="en-CA" b="1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EDC5F2-E42F-19EA-BCA9-B7057734F7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Feature Importance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E088799D-E101-D649-D1D5-F1D68E91141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CA" dirty="0"/>
              <a:t>Hypothesis: Does Alternative data dominate?</a:t>
            </a:r>
            <a:br>
              <a:rPr lang="en-CA" dirty="0"/>
            </a:br>
            <a:br>
              <a:rPr lang="en-CA" dirty="0"/>
            </a:br>
            <a:r>
              <a:rPr lang="en-CA" b="1" dirty="0"/>
              <a:t>Conclusion:</a:t>
            </a:r>
            <a:r>
              <a:rPr lang="en-CA" dirty="0"/>
              <a:t> No — </a:t>
            </a:r>
            <a:r>
              <a:rPr lang="en-CA" b="1" dirty="0"/>
              <a:t>Traditional credit metrics lead.</a:t>
            </a:r>
            <a:endParaRPr lang="en-CA" dirty="0"/>
          </a:p>
          <a:p>
            <a:pPr marL="0" indent="0">
              <a:buNone/>
            </a:pPr>
            <a:r>
              <a:rPr lang="en-CA" b="1" dirty="0"/>
              <a:t>     </a:t>
            </a:r>
          </a:p>
          <a:p>
            <a:pPr marL="0" indent="0">
              <a:buNone/>
            </a:pPr>
            <a:r>
              <a:rPr lang="en-CA" b="1" dirty="0"/>
              <a:t>EWIs (list):</a:t>
            </a:r>
            <a:endParaRPr lang="en-CA" dirty="0"/>
          </a:p>
          <a:p>
            <a:r>
              <a:rPr lang="en-CA" dirty="0"/>
              <a:t>Max DPD (Coeff +1.94)</a:t>
            </a:r>
          </a:p>
          <a:p>
            <a:r>
              <a:rPr lang="en-CA" dirty="0"/>
              <a:t>Max Utilization (Coeff +1.23)</a:t>
            </a:r>
          </a:p>
        </p:txBody>
      </p:sp>
      <p:pic>
        <p:nvPicPr>
          <p:cNvPr id="20" name="Content Placeholder 19">
            <a:extLst>
              <a:ext uri="{FF2B5EF4-FFF2-40B4-BE49-F238E27FC236}">
                <a16:creationId xmlns:a16="http://schemas.microsoft.com/office/drawing/2014/main" id="{A7857163-411B-0628-EF92-173627E92E24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9651" y="2193131"/>
            <a:ext cx="6471941" cy="2353469"/>
          </a:xfrm>
        </p:spPr>
      </p:pic>
    </p:spTree>
    <p:extLst>
      <p:ext uri="{BB962C8B-B14F-4D97-AF65-F5344CB8AC3E}">
        <p14:creationId xmlns:p14="http://schemas.microsoft.com/office/powerpoint/2010/main" val="2722419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0B658-A759-1270-1D92-CF266A44B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K-Means Segmentation: Targeting Risk for Policy </a:t>
            </a:r>
            <a:endParaRPr lang="en-CA" b="1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F39445D3-E082-9E7C-760C-48B0471A5D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6176449"/>
              </p:ext>
            </p:extLst>
          </p:nvPr>
        </p:nvGraphicFramePr>
        <p:xfrm>
          <a:off x="1103686" y="2286000"/>
          <a:ext cx="8947148" cy="2286000"/>
        </p:xfrm>
        <a:graphic>
          <a:graphicData uri="http://schemas.openxmlformats.org/drawingml/2006/table">
            <a:tbl>
              <a:tblPr/>
              <a:tblGrid>
                <a:gridCol w="2236787">
                  <a:extLst>
                    <a:ext uri="{9D8B030D-6E8A-4147-A177-3AD203B41FA5}">
                      <a16:colId xmlns:a16="http://schemas.microsoft.com/office/drawing/2014/main" val="1846590158"/>
                    </a:ext>
                  </a:extLst>
                </a:gridCol>
                <a:gridCol w="2236787">
                  <a:extLst>
                    <a:ext uri="{9D8B030D-6E8A-4147-A177-3AD203B41FA5}">
                      <a16:colId xmlns:a16="http://schemas.microsoft.com/office/drawing/2014/main" val="1803131939"/>
                    </a:ext>
                  </a:extLst>
                </a:gridCol>
                <a:gridCol w="2236787">
                  <a:extLst>
                    <a:ext uri="{9D8B030D-6E8A-4147-A177-3AD203B41FA5}">
                      <a16:colId xmlns:a16="http://schemas.microsoft.com/office/drawing/2014/main" val="1332505195"/>
                    </a:ext>
                  </a:extLst>
                </a:gridCol>
                <a:gridCol w="2236787">
                  <a:extLst>
                    <a:ext uri="{9D8B030D-6E8A-4147-A177-3AD203B41FA5}">
                      <a16:colId xmlns:a16="http://schemas.microsoft.com/office/drawing/2014/main" val="276687098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800" b="1" dirty="0"/>
                        <a:t>Segment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800" b="1" dirty="0"/>
                        <a:t>Risk Level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800" b="1" dirty="0"/>
                        <a:t>Key Behavior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800" b="1" dirty="0"/>
                        <a:t>Recommendation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228393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8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800" dirty="0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800" dirty="0"/>
                        <a:t>Stable DPD, stable cashflow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800"/>
                        <a:t>Grow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581773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80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800"/>
                        <a:t>Moderate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800"/>
                        <a:t>Mid DPD, partner risk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800"/>
                        <a:t>Premium Pricing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566618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80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800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800"/>
                        <a:t>22 DPD, 86.1% default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800" dirty="0"/>
                        <a:t>Decline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060775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67840AC-99EB-DC70-BBBD-B4D5D39F5E44}"/>
              </a:ext>
            </a:extLst>
          </p:cNvPr>
          <p:cNvSpPr txBox="1"/>
          <p:nvPr/>
        </p:nvSpPr>
        <p:spPr>
          <a:xfrm>
            <a:off x="850900" y="5105400"/>
            <a:ext cx="10579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i="1" dirty="0"/>
              <a:t>Recommend a </a:t>
            </a:r>
            <a:r>
              <a:rPr lang="en-GB" b="1" i="1" dirty="0" err="1"/>
              <a:t>Behavioral</a:t>
            </a:r>
            <a:r>
              <a:rPr lang="en-GB" b="1" i="1" dirty="0"/>
              <a:t> Clustering Approach to link credit metrics (DPD) with alternative data features (Cashflow Volatility) for tailored risk policy.</a:t>
            </a:r>
            <a:endParaRPr lang="en-CA" b="1" i="1" dirty="0"/>
          </a:p>
        </p:txBody>
      </p:sp>
    </p:spTree>
    <p:extLst>
      <p:ext uri="{BB962C8B-B14F-4D97-AF65-F5344CB8AC3E}">
        <p14:creationId xmlns:p14="http://schemas.microsoft.com/office/powerpoint/2010/main" val="35685610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67801-2F6E-6B61-15E0-2A2BF7555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The Path to Profitability: Dynamic Risk-Based Pricing </a:t>
            </a:r>
            <a:endParaRPr lang="en-CA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6CFC07-544A-B6C0-AD05-18EBEB0C28A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000" b="1" dirty="0"/>
              <a:t>Risk-Adjusted Return on Capital (RAROC) / Expected Loss Pricing</a:t>
            </a:r>
          </a:p>
          <a:p>
            <a:r>
              <a:rPr lang="en-GB" sz="2000" dirty="0"/>
              <a:t>The interest rate must fully cover </a:t>
            </a:r>
            <a:r>
              <a:rPr lang="en-GB" sz="2000" b="1" dirty="0"/>
              <a:t>Expected Loss = PD × Exposure</a:t>
            </a:r>
          </a:p>
          <a:p>
            <a:r>
              <a:rPr lang="en-GB" sz="2000" dirty="0"/>
              <a:t>Interest must also fund </a:t>
            </a:r>
            <a:r>
              <a:rPr lang="en-GB" sz="2000" b="1" dirty="0"/>
              <a:t>operational costs + required profit margin</a:t>
            </a:r>
          </a:p>
          <a:p>
            <a:r>
              <a:rPr lang="en-GB" sz="2000" dirty="0"/>
              <a:t>Pricing is now </a:t>
            </a:r>
            <a:r>
              <a:rPr lang="en-GB" sz="2000" b="1" dirty="0"/>
              <a:t>model-driven</a:t>
            </a:r>
            <a:r>
              <a:rPr lang="en-GB" sz="2000" dirty="0"/>
              <a:t>, not guesswork</a:t>
            </a:r>
            <a:endParaRPr lang="en-CA" sz="20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07DE9CF-AF17-4D9C-B53E-CFDB346C60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688" y="1853248"/>
            <a:ext cx="4572000" cy="364585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B522946-7E8A-5E95-10F2-4EBE915D566D}"/>
              </a:ext>
            </a:extLst>
          </p:cNvPr>
          <p:cNvSpPr txBox="1"/>
          <p:nvPr/>
        </p:nvSpPr>
        <p:spPr>
          <a:xfrm>
            <a:off x="990600" y="5892800"/>
            <a:ext cx="10236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i="1" dirty="0"/>
              <a:t>We are no longer pricing based on gut feeling; we are pricing based on the model’s precise PD score.</a:t>
            </a:r>
            <a:endParaRPr lang="en-CA" b="1" i="1" dirty="0"/>
          </a:p>
        </p:txBody>
      </p:sp>
    </p:spTree>
    <p:extLst>
      <p:ext uri="{BB962C8B-B14F-4D97-AF65-F5344CB8AC3E}">
        <p14:creationId xmlns:p14="http://schemas.microsoft.com/office/powerpoint/2010/main" val="1834848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B4B31-664C-8DC7-CDF1-4842AC8E8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 err="1"/>
              <a:t>Modeling</a:t>
            </a:r>
            <a:r>
              <a:rPr lang="en-GB" b="1" dirty="0"/>
              <a:t> Interconnected Risk: Value Chain Cascades</a:t>
            </a:r>
            <a:endParaRPr lang="en-CA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ADDA4-72CA-67C4-3E49-361916F8AE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CA" sz="2000" b="1" dirty="0"/>
              <a:t>The Challenge</a:t>
            </a:r>
          </a:p>
          <a:p>
            <a:r>
              <a:rPr lang="en-GB" sz="2000" dirty="0"/>
              <a:t>Traditional credit models only predict </a:t>
            </a:r>
            <a:r>
              <a:rPr lang="en-GB" sz="2000" i="1" dirty="0"/>
              <a:t>individual borrower default</a:t>
            </a:r>
          </a:p>
          <a:p>
            <a:r>
              <a:rPr lang="en-GB" sz="2000" dirty="0"/>
              <a:t>But MSMEs are interconnected through supply chains</a:t>
            </a:r>
          </a:p>
          <a:p>
            <a:r>
              <a:rPr lang="en-GB" sz="2000" dirty="0"/>
              <a:t>If a critical buyer collapses, upstream suppliers will default even if they were previously healthy</a:t>
            </a:r>
          </a:p>
          <a:p>
            <a:pPr marL="0" indent="0">
              <a:buNone/>
            </a:pPr>
            <a:endParaRPr lang="en-GB" sz="2000" dirty="0"/>
          </a:p>
          <a:p>
            <a:pPr marL="0" indent="0" algn="ctr">
              <a:buNone/>
            </a:pPr>
            <a:r>
              <a:rPr lang="en-CA" sz="2000" i="1" dirty="0"/>
              <a:t>This is Concentration Risk.</a:t>
            </a:r>
            <a:endParaRPr lang="en-CA" sz="2000" b="1" i="1" dirty="0"/>
          </a:p>
        </p:txBody>
      </p:sp>
    </p:spTree>
    <p:extLst>
      <p:ext uri="{BB962C8B-B14F-4D97-AF65-F5344CB8AC3E}">
        <p14:creationId xmlns:p14="http://schemas.microsoft.com/office/powerpoint/2010/main" val="23341312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A7960-ACCF-DE8A-E1A6-89E91C7F3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b="1" dirty="0"/>
              <a:t>Model Governance: Ensuring Continuous Viability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616EF02-854E-D0D1-D58A-3D0A1ED73F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172402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CA" sz="2000" b="1" dirty="0"/>
              <a:t>Portfolio Health</a:t>
            </a:r>
          </a:p>
          <a:p>
            <a:r>
              <a:rPr lang="en-GB" sz="2000" dirty="0"/>
              <a:t>Monitor Default Rate vs 3.75% threshold (weekly)</a:t>
            </a:r>
            <a:endParaRPr lang="en-CA" sz="2000" b="1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EEB5612-6CA8-ABD3-74BE-2B6D5BA0A6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54493" y="2056093"/>
            <a:ext cx="4396341" cy="172402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CA" sz="2000" b="1" dirty="0"/>
              <a:t>Model Performance</a:t>
            </a:r>
          </a:p>
          <a:p>
            <a:r>
              <a:rPr lang="en-CA" sz="2000" dirty="0"/>
              <a:t>Watch for coefficient drift</a:t>
            </a:r>
          </a:p>
          <a:p>
            <a:r>
              <a:rPr lang="en-GB" sz="2000" dirty="0"/>
              <a:t>Retrain if AUC drops below 0.85</a:t>
            </a:r>
            <a:endParaRPr lang="en-CA" sz="2000" b="1" dirty="0"/>
          </a:p>
        </p:txBody>
      </p:sp>
    </p:spTree>
    <p:extLst>
      <p:ext uri="{BB962C8B-B14F-4D97-AF65-F5344CB8AC3E}">
        <p14:creationId xmlns:p14="http://schemas.microsoft.com/office/powerpoint/2010/main" val="10129255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DEA09-C4DA-500D-0147-CA7D09844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b="1" dirty="0"/>
              <a:t>Conclusion: Profitability Requires Segmentation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3F378-CC48-409B-7EDB-E2027CCCF67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CA" sz="2000" b="1" dirty="0"/>
              <a:t>Recap:</a:t>
            </a:r>
          </a:p>
          <a:p>
            <a:r>
              <a:rPr lang="en-GB" sz="2000" dirty="0"/>
              <a:t>V3.0 is validated &amp; deployable (AUC 0.8820).</a:t>
            </a:r>
          </a:p>
          <a:p>
            <a:r>
              <a:rPr lang="en-GB" sz="2000" dirty="0"/>
              <a:t>Hard Cut-Off needed for Segment 0.</a:t>
            </a:r>
          </a:p>
          <a:p>
            <a:r>
              <a:rPr lang="en-CA" sz="2000" dirty="0"/>
              <a:t>Implement risk-based pricing.</a:t>
            </a:r>
            <a:endParaRPr lang="en-CA" sz="2000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DEF619-E71B-5D5E-090E-3E232DC9992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CA" sz="2000" b="1" dirty="0"/>
              <a:t>Call to Action:</a:t>
            </a:r>
          </a:p>
          <a:p>
            <a:r>
              <a:rPr lang="en-GB" sz="2000" dirty="0"/>
              <a:t>Deploy Segment 0 decline filters</a:t>
            </a:r>
          </a:p>
          <a:p>
            <a:r>
              <a:rPr lang="en-GB" sz="2000" dirty="0"/>
              <a:t>Begin Graph Database for systemic risk</a:t>
            </a:r>
            <a:endParaRPr lang="en-CA" sz="2000" b="1" dirty="0"/>
          </a:p>
        </p:txBody>
      </p:sp>
    </p:spTree>
    <p:extLst>
      <p:ext uri="{BB962C8B-B14F-4D97-AF65-F5344CB8AC3E}">
        <p14:creationId xmlns:p14="http://schemas.microsoft.com/office/powerpoint/2010/main" val="34048735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90B321D-5D6E-6157-19F7-CA81D92E71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CA" b="1" dirty="0"/>
              <a:t>Thank you — Questions?</a:t>
            </a:r>
          </a:p>
        </p:txBody>
      </p:sp>
    </p:spTree>
    <p:extLst>
      <p:ext uri="{BB962C8B-B14F-4D97-AF65-F5344CB8AC3E}">
        <p14:creationId xmlns:p14="http://schemas.microsoft.com/office/powerpoint/2010/main" val="292938417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89</TotalTime>
  <Words>514</Words>
  <Application>Microsoft Office PowerPoint</Application>
  <PresentationFormat>Widescreen</PresentationFormat>
  <Paragraphs>87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Century Gothic</vt:lpstr>
      <vt:lpstr>Wingdings 3</vt:lpstr>
      <vt:lpstr>Ion</vt:lpstr>
      <vt:lpstr>Chain Forward Risk Optimization: From Prototype to Production (V3.0)</vt:lpstr>
      <vt:lpstr>Is Chain Forward Financially Viable? The Critical Loss Scenario</vt:lpstr>
      <vt:lpstr>Problem-Solving: The Iteration that Unlocked Predictive Power</vt:lpstr>
      <vt:lpstr>V3.0 Engineering Fix: Refined Target and Scaling</vt:lpstr>
      <vt:lpstr>Key Risk Drivers: What Predicts MSME Default?</vt:lpstr>
      <vt:lpstr>K-Means Segmentation: Targeting Risk for Policy </vt:lpstr>
      <vt:lpstr>The Path to Profitability: Dynamic Risk-Based Pricing </vt:lpstr>
      <vt:lpstr>Modeling Interconnected Risk: Value Chain Cascades</vt:lpstr>
      <vt:lpstr>Model Governance: Ensuring Continuous Viability</vt:lpstr>
      <vt:lpstr>Conclusion: Profitability Requires Segmentation</vt:lpstr>
      <vt:lpstr>Thank you —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KingHenryMorgan</dc:creator>
  <cp:lastModifiedBy>KingHenryMorgan</cp:lastModifiedBy>
  <cp:revision>1</cp:revision>
  <dcterms:created xsi:type="dcterms:W3CDTF">2025-11-24T14:33:41Z</dcterms:created>
  <dcterms:modified xsi:type="dcterms:W3CDTF">2025-11-24T16:02:49Z</dcterms:modified>
</cp:coreProperties>
</file>