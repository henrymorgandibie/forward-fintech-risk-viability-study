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70" r:id="rId6"/>
    <p:sldId id="261" r:id="rId7"/>
    <p:sldId id="262" r:id="rId8"/>
    <p:sldId id="264" r:id="rId9"/>
    <p:sldId id="267" r:id="rId10"/>
    <p:sldId id="266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74" autoAdjust="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E7726-AED2-439E-B79D-EEE274B02AE6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4C5619-30CD-4F67-A271-B0BD0CBA0F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775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4C5619-30CD-4F67-A271-B0BD0CBA0F5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968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397-759D-44C0-8A71-468089936D7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3449809-D819-4816-A422-79B2096843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4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397-759D-44C0-8A71-468089936D7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49809-D819-4816-A422-79B2096843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0757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397-759D-44C0-8A71-468089936D7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449809-D819-4816-A422-79B2096843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640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397-759D-44C0-8A71-468089936D7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3449809-D819-4816-A422-79B2096843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847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397-759D-44C0-8A71-468089936D7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3449809-D819-4816-A422-79B2096843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73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397-759D-44C0-8A71-468089936D7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49809-D819-4816-A422-79B2096843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492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397-759D-44C0-8A71-468089936D7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49809-D819-4816-A422-79B2096843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257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397-759D-44C0-8A71-468089936D7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49809-D819-4816-A422-79B2096843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599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397-759D-44C0-8A71-468089936D7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449809-D819-4816-A422-79B2096843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138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397-759D-44C0-8A71-468089936D7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449809-D819-4816-A422-79B2096843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47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397-759D-44C0-8A71-468089936D7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449809-D819-4816-A422-79B209684375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924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397-759D-44C0-8A71-468089936D7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449809-D819-4816-A422-79B2096843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54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397-759D-44C0-8A71-468089936D7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449809-D819-4816-A422-79B209684375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8698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397-759D-44C0-8A71-468089936D7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449809-D819-4816-A422-79B2096843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616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397-759D-44C0-8A71-468089936D7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49809-D819-4816-A422-79B2096843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4431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C5397-759D-44C0-8A71-468089936D7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49809-D819-4816-A422-79B2096843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15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C5397-759D-44C0-8A71-468089936D7D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3449809-D819-4816-A422-79B2096843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715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7031A-2D8F-F7F7-4D6D-26250E045D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Chain Forward Risk Assessment &amp; Profitability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3A52E-9418-3D00-7250-D5550CCCCF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Prepared by: </a:t>
            </a:r>
            <a:r>
              <a:rPr lang="en-GB" b="1" dirty="0"/>
              <a:t>Henry C. Dibie</a:t>
            </a:r>
            <a:br>
              <a:rPr lang="en-GB" dirty="0"/>
            </a:br>
            <a:r>
              <a:rPr lang="en-GB" dirty="0"/>
              <a:t>Date: </a:t>
            </a:r>
            <a:r>
              <a:rPr lang="en-GB" b="1" dirty="0"/>
              <a:t>November 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455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74717-3284-C97D-8144-76A334BDD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3949"/>
            <a:ext cx="10515600" cy="711894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Understanding the Chain Forward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284BB-2A89-F96B-6BE9-3F300720F3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2643434"/>
            <a:ext cx="5181600" cy="32357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000" dirty="0"/>
              <a:t>Forward Fintech is launching a short-term value-chain lending product for MSMEs.</a:t>
            </a:r>
            <a:br>
              <a:rPr lang="en-GB" sz="2000" dirty="0"/>
            </a:br>
            <a:r>
              <a:rPr lang="en-GB" sz="2000" dirty="0"/>
              <a:t>This segment is highly risky due to: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dirty="0"/>
              <a:t>Limited formal financial history</a:t>
            </a:r>
          </a:p>
          <a:p>
            <a:r>
              <a:rPr lang="en-GB" sz="2000" dirty="0"/>
              <a:t>Volatile and irregular cashflows</a:t>
            </a:r>
          </a:p>
          <a:p>
            <a:r>
              <a:rPr lang="en-GB" sz="2000" dirty="0"/>
              <a:t>High-frequency borrowing cycles</a:t>
            </a:r>
          </a:p>
          <a:p>
            <a:r>
              <a:rPr lang="en-GB" sz="2000" dirty="0"/>
              <a:t>Value-chain interdependencies (cascade failures)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D29EB6-6F72-53CA-ECC4-6CDF97468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2643434"/>
            <a:ext cx="5181600" cy="207023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2000" b="1" dirty="0"/>
              <a:t>Objective of this analysis:</a:t>
            </a:r>
          </a:p>
          <a:p>
            <a:r>
              <a:rPr lang="en-GB" sz="2000" dirty="0"/>
              <a:t>To determine whether Chain Forward can become </a:t>
            </a:r>
            <a:r>
              <a:rPr lang="en-GB" sz="2000" b="1" dirty="0"/>
              <a:t>profitable</a:t>
            </a:r>
            <a:r>
              <a:rPr lang="en-GB" sz="2000" dirty="0"/>
              <a:t>, and what </a:t>
            </a:r>
            <a:r>
              <a:rPr lang="en-GB" sz="2000" b="1" dirty="0"/>
              <a:t>risk controls</a:t>
            </a:r>
            <a:r>
              <a:rPr lang="en-GB" sz="2000" dirty="0"/>
              <a:t>, </a:t>
            </a:r>
            <a:r>
              <a:rPr lang="en-GB" sz="2000" b="1" dirty="0"/>
              <a:t>pricing strategies</a:t>
            </a:r>
            <a:r>
              <a:rPr lang="en-GB" sz="2000" dirty="0"/>
              <a:t>, and </a:t>
            </a:r>
            <a:r>
              <a:rPr lang="en-GB" sz="2000" b="1" dirty="0"/>
              <a:t>data science methods</a:t>
            </a:r>
            <a:r>
              <a:rPr lang="en-GB" sz="2000" dirty="0"/>
              <a:t> are required to make it viable.</a:t>
            </a:r>
            <a:endParaRPr lang="en-GB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56A5CF-C168-68CD-3ED0-66F56D1B6324}"/>
              </a:ext>
            </a:extLst>
          </p:cNvPr>
          <p:cNvSpPr txBox="1"/>
          <p:nvPr/>
        </p:nvSpPr>
        <p:spPr>
          <a:xfrm>
            <a:off x="838200" y="759854"/>
            <a:ext cx="107012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/>
              <a:t>Business Context &amp; Objective</a:t>
            </a:r>
          </a:p>
        </p:txBody>
      </p:sp>
    </p:spTree>
    <p:extLst>
      <p:ext uri="{BB962C8B-B14F-4D97-AF65-F5344CB8AC3E}">
        <p14:creationId xmlns:p14="http://schemas.microsoft.com/office/powerpoint/2010/main" val="1441039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A98A5-2893-54C1-CEF3-2DFB09AC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25"/>
            <a:ext cx="10515600" cy="763409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End-to-End Risk Assessment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EAFCC-6317-F608-FFE5-D065F611A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9034"/>
            <a:ext cx="10515600" cy="376380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2400" dirty="0"/>
              <a:t>This analysis follows a structured 4-pillar risk framework:</a:t>
            </a:r>
          </a:p>
          <a:p>
            <a:r>
              <a:rPr lang="en-GB" sz="2400" b="1" dirty="0"/>
              <a:t>Portfolio Viability </a:t>
            </a:r>
            <a:r>
              <a:rPr lang="en-GB" sz="2400" b="1" dirty="0" err="1"/>
              <a:t>Modeling</a:t>
            </a:r>
            <a:br>
              <a:rPr lang="en-GB" sz="2400" dirty="0"/>
            </a:br>
            <a:r>
              <a:rPr lang="en-GB" sz="2400" dirty="0"/>
              <a:t>Evaluate losses, break-even default rate, and 3-year NPV.</a:t>
            </a:r>
          </a:p>
          <a:p>
            <a:r>
              <a:rPr lang="en-GB" sz="2400" b="1" dirty="0"/>
              <a:t>MSME </a:t>
            </a:r>
            <a:r>
              <a:rPr lang="en-GB" sz="2400" b="1" dirty="0" err="1"/>
              <a:t>Behavioral</a:t>
            </a:r>
            <a:r>
              <a:rPr lang="en-GB" sz="2400" b="1" dirty="0"/>
              <a:t> Risk Analysis</a:t>
            </a:r>
            <a:br>
              <a:rPr lang="en-GB" sz="2400" dirty="0"/>
            </a:br>
            <a:r>
              <a:rPr lang="en-GB" sz="2400" dirty="0"/>
              <a:t>Use alternative data: volatility, payment speed, partner risk, seasonality.</a:t>
            </a:r>
          </a:p>
          <a:p>
            <a:r>
              <a:rPr lang="en-GB" sz="2400" b="1" dirty="0"/>
              <a:t>Customer Segmentation (K-Means)</a:t>
            </a:r>
            <a:br>
              <a:rPr lang="en-GB" sz="2400" dirty="0"/>
            </a:br>
            <a:r>
              <a:rPr lang="en-GB" sz="2400" dirty="0"/>
              <a:t>Cluster MSMEs into 3 risk groups based on </a:t>
            </a:r>
            <a:r>
              <a:rPr lang="en-GB" sz="2400" dirty="0" err="1"/>
              <a:t>behavioral</a:t>
            </a:r>
            <a:r>
              <a:rPr lang="en-GB" sz="2400" dirty="0"/>
              <a:t> patterns.</a:t>
            </a:r>
          </a:p>
          <a:p>
            <a:r>
              <a:rPr lang="en-GB" sz="2400" b="1" dirty="0"/>
              <a:t>Default Prediction Model (Logistic Regression)</a:t>
            </a:r>
            <a:br>
              <a:rPr lang="en-GB" sz="2400" dirty="0"/>
            </a:br>
            <a:r>
              <a:rPr lang="en-GB" sz="2400" dirty="0"/>
              <a:t>Quantify which </a:t>
            </a:r>
            <a:r>
              <a:rPr lang="en-GB" sz="2400" dirty="0" err="1"/>
              <a:t>behaviors</a:t>
            </a:r>
            <a:r>
              <a:rPr lang="en-GB" sz="2400" dirty="0"/>
              <a:t> drive default risk.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C2C0F4-6DE5-DA23-7AD8-2494898EC911}"/>
              </a:ext>
            </a:extLst>
          </p:cNvPr>
          <p:cNvSpPr txBox="1"/>
          <p:nvPr/>
        </p:nvSpPr>
        <p:spPr>
          <a:xfrm>
            <a:off x="399246" y="505160"/>
            <a:ext cx="116553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/>
              <a:t>Risk Assessment Framework (My Approach)</a:t>
            </a:r>
          </a:p>
        </p:txBody>
      </p:sp>
    </p:spTree>
    <p:extLst>
      <p:ext uri="{BB962C8B-B14F-4D97-AF65-F5344CB8AC3E}">
        <p14:creationId xmlns:p14="http://schemas.microsoft.com/office/powerpoint/2010/main" val="2509427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C3F85-3B12-5839-4B1D-F3C38622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183" y="390189"/>
            <a:ext cx="11998817" cy="897698"/>
          </a:xfrm>
        </p:spPr>
        <p:txBody>
          <a:bodyPr/>
          <a:lstStyle/>
          <a:p>
            <a:pPr algn="ctr"/>
            <a:r>
              <a:rPr lang="en-GB" b="1" dirty="0"/>
              <a:t>Data Sources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1922D-D566-B5B3-E4BE-6AF273B19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97819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1. Traditional Credit Snapshot (60-day)</a:t>
            </a:r>
            <a:endParaRPr lang="en-GB" dirty="0"/>
          </a:p>
          <a:p>
            <a:r>
              <a:rPr lang="en-GB" dirty="0"/>
              <a:t>Loan amount</a:t>
            </a:r>
          </a:p>
          <a:p>
            <a:r>
              <a:rPr lang="en-GB" dirty="0"/>
              <a:t>Days in arrears</a:t>
            </a:r>
          </a:p>
          <a:p>
            <a:r>
              <a:rPr lang="en-GB" dirty="0"/>
              <a:t>Utilization rate</a:t>
            </a:r>
          </a:p>
          <a:p>
            <a:r>
              <a:rPr lang="en-GB" dirty="0"/>
              <a:t>Loan count</a:t>
            </a:r>
          </a:p>
          <a:p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377476-EC4E-D9DB-6F34-84081840A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081226"/>
          </a:xfrm>
        </p:spPr>
        <p:txBody>
          <a:bodyPr/>
          <a:lstStyle/>
          <a:p>
            <a:r>
              <a:rPr lang="en-GB" b="1" dirty="0"/>
              <a:t>2. Alternative MSME Data (Simulated)</a:t>
            </a:r>
            <a:endParaRPr lang="en-GB" dirty="0"/>
          </a:p>
          <a:p>
            <a:r>
              <a:rPr lang="en-GB" dirty="0"/>
              <a:t>Cashflow patterns</a:t>
            </a:r>
          </a:p>
          <a:p>
            <a:r>
              <a:rPr lang="en-GB" dirty="0"/>
              <a:t>Payment speed</a:t>
            </a:r>
          </a:p>
          <a:p>
            <a:r>
              <a:rPr lang="en-GB" dirty="0"/>
              <a:t>Partner risk score</a:t>
            </a:r>
          </a:p>
          <a:p>
            <a:r>
              <a:rPr lang="en-GB" dirty="0"/>
              <a:t>Platform activity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B7027-4EFA-B89B-B15A-3B9762A4C45D}"/>
              </a:ext>
            </a:extLst>
          </p:cNvPr>
          <p:cNvSpPr txBox="1"/>
          <p:nvPr/>
        </p:nvSpPr>
        <p:spPr>
          <a:xfrm>
            <a:off x="1262130" y="5112913"/>
            <a:ext cx="96720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Final </a:t>
            </a:r>
            <a:r>
              <a:rPr lang="en-GB" sz="3200" b="1" dirty="0" err="1"/>
              <a:t>Modeling</a:t>
            </a:r>
            <a:r>
              <a:rPr lang="en-GB" sz="3200" b="1" dirty="0"/>
              <a:t> Dataset:</a:t>
            </a:r>
            <a:r>
              <a:rPr lang="en-GB" sz="3200" dirty="0"/>
              <a:t> </a:t>
            </a:r>
            <a:r>
              <a:rPr lang="en-GB" sz="3200" b="1" dirty="0"/>
              <a:t>25,000 borrowers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20313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D5AE-EEB1-3D8E-A74A-80BB868C8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315" y="259299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GB" sz="4400" b="1" dirty="0"/>
              <a:t>Profitability Results (Key Insight)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9A34AB-19E1-24B3-4DDE-126C7B210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3602" y="1208739"/>
            <a:ext cx="8915400" cy="197234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GB" b="1" dirty="0"/>
              <a:t>Product Profitability Is Negative Across All Scenarios</a:t>
            </a:r>
          </a:p>
          <a:p>
            <a:pPr marL="0" indent="0">
              <a:buNone/>
            </a:pPr>
            <a:r>
              <a:rPr lang="en-GB" dirty="0"/>
              <a:t>The Chain Forward product is unprofitable under current assumptions.</a:t>
            </a:r>
            <a:br>
              <a:rPr lang="en-GB" dirty="0"/>
            </a:br>
            <a:r>
              <a:rPr lang="en-GB" dirty="0"/>
              <a:t>Even in the </a:t>
            </a:r>
            <a:r>
              <a:rPr lang="en-GB" b="1" dirty="0"/>
              <a:t>optimistic scenario</a:t>
            </a:r>
            <a:r>
              <a:rPr lang="en-GB" dirty="0"/>
              <a:t>, monthly profit remains negative.</a:t>
            </a:r>
          </a:p>
          <a:p>
            <a:pPr marL="0" indent="0">
              <a:buNone/>
            </a:pPr>
            <a:r>
              <a:rPr lang="en-GB" b="1" dirty="0"/>
              <a:t>Why?</a:t>
            </a:r>
          </a:p>
          <a:p>
            <a:r>
              <a:rPr lang="en-GB" dirty="0"/>
              <a:t>High default rates + high LGD (80%)</a:t>
            </a:r>
          </a:p>
          <a:p>
            <a:r>
              <a:rPr lang="en-GB" dirty="0"/>
              <a:t>Low revenue per borrower ($8/month)</a:t>
            </a:r>
          </a:p>
          <a:p>
            <a:r>
              <a:rPr lang="en-GB" dirty="0"/>
              <a:t>Insufficient pricing relative to risk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52BF1E-E8FE-B588-B191-C6EB250CA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29" y="3252154"/>
            <a:ext cx="11231542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70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3D76D-CF69-36DA-9C25-20E09471C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7626"/>
            <a:ext cx="10515600" cy="808195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b="1" dirty="0"/>
              <a:t>Current Default Rate (6%) Exceeds Break-Even (3.75%)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6286E-3C75-42F1-35EF-3DBE47187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2296"/>
            <a:ext cx="10515600" cy="3313045"/>
          </a:xfrm>
        </p:spPr>
        <p:txBody>
          <a:bodyPr>
            <a:normAutofit fontScale="92500"/>
          </a:bodyPr>
          <a:lstStyle/>
          <a:p>
            <a:r>
              <a:rPr lang="en-GB" sz="2400" dirty="0"/>
              <a:t>Break-even default rate = </a:t>
            </a:r>
            <a:r>
              <a:rPr lang="en-GB" sz="2400" b="1" dirty="0"/>
              <a:t>3.75%</a:t>
            </a:r>
            <a:endParaRPr lang="en-GB" sz="2400" dirty="0"/>
          </a:p>
          <a:p>
            <a:r>
              <a:rPr lang="en-GB" sz="2400" dirty="0"/>
              <a:t>Actual expected default rate = </a:t>
            </a:r>
            <a:r>
              <a:rPr lang="en-GB" sz="2400" b="1" dirty="0"/>
              <a:t>6.0%</a:t>
            </a:r>
            <a:endParaRPr lang="en-GB" sz="2400" dirty="0"/>
          </a:p>
          <a:p>
            <a:r>
              <a:rPr lang="en-GB" sz="2400" dirty="0"/>
              <a:t>Chain Forward is operating </a:t>
            </a:r>
            <a:r>
              <a:rPr lang="en-GB" sz="2400" b="1" dirty="0"/>
              <a:t>60% above</a:t>
            </a:r>
            <a:r>
              <a:rPr lang="en-GB" sz="2400" dirty="0"/>
              <a:t> break-even</a:t>
            </a:r>
          </a:p>
          <a:p>
            <a:r>
              <a:rPr lang="en-GB" sz="2400" dirty="0"/>
              <a:t>No pricing structure can sustain this without segmentation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400" b="1" dirty="0"/>
              <a:t>Conclusion:</a:t>
            </a:r>
            <a:br>
              <a:rPr lang="en-GB" sz="2400" dirty="0"/>
            </a:br>
            <a:r>
              <a:rPr lang="en-GB" sz="2400" dirty="0"/>
              <a:t>➡️ Pricing must increase OR risk must decrease through selective lending.</a:t>
            </a:r>
          </a:p>
          <a:p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233754-8587-9C99-3119-EBC0AE9408FE}"/>
              </a:ext>
            </a:extLst>
          </p:cNvPr>
          <p:cNvSpPr txBox="1"/>
          <p:nvPr/>
        </p:nvSpPr>
        <p:spPr>
          <a:xfrm>
            <a:off x="978794" y="566670"/>
            <a:ext cx="10515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/>
              <a:t>Break-Even Analysis</a:t>
            </a:r>
          </a:p>
        </p:txBody>
      </p:sp>
    </p:spTree>
    <p:extLst>
      <p:ext uri="{BB962C8B-B14F-4D97-AF65-F5344CB8AC3E}">
        <p14:creationId xmlns:p14="http://schemas.microsoft.com/office/powerpoint/2010/main" val="108006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A0B6D-E8D1-A481-0771-405CE8B36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1564406"/>
            <a:ext cx="10515600" cy="863194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200" b="1" dirty="0"/>
              <a:t>Cashflow Volatility Is the Strongest Predictor of Default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E380A8-CA48-1297-786F-18DBC5ABAF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815710"/>
            <a:ext cx="5181600" cy="172894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 Low-impact predictors:</a:t>
            </a:r>
            <a:br>
              <a:rPr lang="en-GB" dirty="0"/>
            </a:br>
            <a:endParaRPr lang="en-GB" dirty="0"/>
          </a:p>
          <a:p>
            <a:r>
              <a:rPr lang="en-GB" sz="2000" dirty="0"/>
              <a:t>Traditional credit history features</a:t>
            </a:r>
          </a:p>
          <a:p>
            <a:r>
              <a:rPr lang="en-GB" sz="2000" dirty="0"/>
              <a:t>Days Active on Platform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330BF-4A8E-CECF-DB03-B741B18EC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815710"/>
            <a:ext cx="5181600" cy="1986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Top predictors (↑ default risk):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GB" sz="2000" dirty="0"/>
              <a:t>✔ Cashflow Volatility Ratio (strongest coefficient)</a:t>
            </a:r>
            <a:br>
              <a:rPr lang="en-GB" sz="2000" dirty="0"/>
            </a:br>
            <a:r>
              <a:rPr lang="en-GB" sz="2000" dirty="0"/>
              <a:t>✔ Payment Speed (slow payments increase risk)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DF26D0-55DF-92D0-8A99-04870167BA93}"/>
              </a:ext>
            </a:extLst>
          </p:cNvPr>
          <p:cNvSpPr txBox="1"/>
          <p:nvPr/>
        </p:nvSpPr>
        <p:spPr>
          <a:xfrm>
            <a:off x="1136024" y="4790941"/>
            <a:ext cx="106755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Interpretation:</a:t>
            </a:r>
            <a:br>
              <a:rPr lang="en-GB" sz="2400" dirty="0"/>
            </a:br>
            <a:r>
              <a:rPr lang="en-GB" sz="2400" dirty="0"/>
              <a:t>➡️ Alternative data provides more power than traditional credit bureau data.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969F19-83A0-BCC2-E8EF-B5502A30B1D9}"/>
              </a:ext>
            </a:extLst>
          </p:cNvPr>
          <p:cNvSpPr txBox="1"/>
          <p:nvPr/>
        </p:nvSpPr>
        <p:spPr>
          <a:xfrm>
            <a:off x="838200" y="695459"/>
            <a:ext cx="105156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 err="1"/>
              <a:t>Behavioral</a:t>
            </a:r>
            <a:r>
              <a:rPr lang="en-GB" sz="4400" b="1" dirty="0"/>
              <a:t> Risk: What Drives Default?</a:t>
            </a:r>
          </a:p>
        </p:txBody>
      </p:sp>
    </p:spTree>
    <p:extLst>
      <p:ext uri="{BB962C8B-B14F-4D97-AF65-F5344CB8AC3E}">
        <p14:creationId xmlns:p14="http://schemas.microsoft.com/office/powerpoint/2010/main" val="3451028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EF8D93-B144-A38A-FD9D-1E69D48AB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754" y="1857540"/>
            <a:ext cx="6230219" cy="43535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40B1B6-B1C3-5130-3E62-888679F77C39}"/>
              </a:ext>
            </a:extLst>
          </p:cNvPr>
          <p:cNvSpPr txBox="1"/>
          <p:nvPr/>
        </p:nvSpPr>
        <p:spPr>
          <a:xfrm>
            <a:off x="1120462" y="2137893"/>
            <a:ext cx="30651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Logistic Regression confirms the importance of alternative data, but the model's overall predictive power is inadequate.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4F7F02-175B-7E20-5AF3-DF92138875AE}"/>
              </a:ext>
            </a:extLst>
          </p:cNvPr>
          <p:cNvSpPr txBox="1"/>
          <p:nvPr/>
        </p:nvSpPr>
        <p:spPr>
          <a:xfrm>
            <a:off x="1120462" y="814352"/>
            <a:ext cx="102644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latin typeface="+mj-lt"/>
              </a:rPr>
              <a:t>Cashflow Volatility Is the Strongest Predictor of Default</a:t>
            </a:r>
          </a:p>
        </p:txBody>
      </p:sp>
    </p:spTree>
    <p:extLst>
      <p:ext uri="{BB962C8B-B14F-4D97-AF65-F5344CB8AC3E}">
        <p14:creationId xmlns:p14="http://schemas.microsoft.com/office/powerpoint/2010/main" val="4276217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262E-F421-C6AB-58F1-20329F1AC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806" y="414037"/>
            <a:ext cx="10824693" cy="852666"/>
          </a:xfrm>
        </p:spPr>
        <p:txBody>
          <a:bodyPr>
            <a:normAutofit/>
          </a:bodyPr>
          <a:lstStyle/>
          <a:p>
            <a:pPr algn="ctr"/>
            <a:r>
              <a:rPr lang="en-GB" sz="4400" b="1" dirty="0"/>
              <a:t>Customer Segmentation (K-Means)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C6C944B-3D2C-0EFF-1B3B-A7F8679EE1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3286274"/>
              </p:ext>
            </p:extLst>
          </p:nvPr>
        </p:nvGraphicFramePr>
        <p:xfrm>
          <a:off x="5492281" y="1894827"/>
          <a:ext cx="6172200" cy="208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335706286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380203785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78951992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866032110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lang="en-GB" dirty="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Default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Portfolio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559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48.5% of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Very high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18118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Medium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05805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589846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25F0F7-3146-5391-0694-6F46D5B2E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7533" y="1894827"/>
            <a:ext cx="3505199" cy="2447866"/>
          </a:xfrm>
        </p:spPr>
        <p:txBody>
          <a:bodyPr>
            <a:normAutofit/>
          </a:bodyPr>
          <a:lstStyle/>
          <a:p>
            <a:pPr algn="ctr"/>
            <a:r>
              <a:rPr lang="en-GB" sz="2400" dirty="0"/>
              <a:t>Risk is Highly Concentrated in Segment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DBA7DD-F6AB-7FC1-AA9B-30B935804028}"/>
              </a:ext>
            </a:extLst>
          </p:cNvPr>
          <p:cNvSpPr txBox="1"/>
          <p:nvPr/>
        </p:nvSpPr>
        <p:spPr>
          <a:xfrm>
            <a:off x="1081825" y="4868214"/>
            <a:ext cx="105826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Key Insight:</a:t>
            </a:r>
            <a:br>
              <a:rPr lang="en-GB" sz="2000" dirty="0"/>
            </a:br>
            <a:r>
              <a:rPr lang="en-GB" sz="2000" dirty="0"/>
              <a:t>Almost </a:t>
            </a:r>
            <a:r>
              <a:rPr lang="en-GB" sz="2000" b="1" dirty="0"/>
              <a:t>half of all customers fall into the highest-risk segment</a:t>
            </a:r>
            <a:r>
              <a:rPr lang="en-GB" sz="2000" dirty="0"/>
              <a:t>, and this segment is the primary source of losses.</a:t>
            </a:r>
          </a:p>
        </p:txBody>
      </p:sp>
    </p:spTree>
    <p:extLst>
      <p:ext uri="{BB962C8B-B14F-4D97-AF65-F5344CB8AC3E}">
        <p14:creationId xmlns:p14="http://schemas.microsoft.com/office/powerpoint/2010/main" val="3492237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1CD3B-2214-0E3C-05C4-6AAA871FC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344" y="358803"/>
            <a:ext cx="8911687" cy="823912"/>
          </a:xfrm>
        </p:spPr>
        <p:txBody>
          <a:bodyPr>
            <a:normAutofit/>
          </a:bodyPr>
          <a:lstStyle/>
          <a:p>
            <a:pPr algn="ctr"/>
            <a:r>
              <a:rPr lang="en-GB" sz="4400" b="1" dirty="0"/>
              <a:t>Segment Insights &amp; Risk Strategy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F92A9-935E-EAC4-11D2-92A5F94FE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2424" cy="823912"/>
          </a:xfrm>
        </p:spPr>
        <p:txBody>
          <a:bodyPr>
            <a:normAutofit/>
          </a:bodyPr>
          <a:lstStyle/>
          <a:p>
            <a:pPr algn="ctr"/>
            <a:r>
              <a:rPr lang="en-GB" sz="3200" b="1" dirty="0"/>
              <a:t>Strategic Levers Based on Segment Risk</a:t>
            </a:r>
          </a:p>
          <a:p>
            <a:pPr algn="ctr"/>
            <a:endParaRPr lang="en-GB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E44A0-2F9E-5567-E6EE-FABE3B9DB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163" y="2125450"/>
            <a:ext cx="5157787" cy="2968446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/>
              <a:t>Segment 1 (High Risk)</a:t>
            </a:r>
          </a:p>
          <a:p>
            <a:r>
              <a:rPr lang="en-GB" dirty="0"/>
              <a:t>High volatility</a:t>
            </a:r>
          </a:p>
          <a:p>
            <a:r>
              <a:rPr lang="en-GB" dirty="0"/>
              <a:t>Slow payments</a:t>
            </a:r>
          </a:p>
          <a:p>
            <a:r>
              <a:rPr lang="en-GB" dirty="0"/>
              <a:t>High partner risk</a:t>
            </a:r>
          </a:p>
          <a:p>
            <a:pPr marL="0" indent="0">
              <a:buNone/>
            </a:pPr>
            <a:r>
              <a:rPr lang="en-GB" b="1" dirty="0"/>
              <a:t>Action:</a:t>
            </a:r>
            <a:r>
              <a:rPr lang="en-GB" dirty="0"/>
              <a:t> Apply significant risk-based pricing OR restrict credit.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311958-F60B-75B7-E845-66E00E8FB4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2" y="2073935"/>
            <a:ext cx="5183188" cy="2002531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/>
              <a:t>Segment 0 (Medium Risk)</a:t>
            </a:r>
          </a:p>
          <a:p>
            <a:r>
              <a:rPr lang="en-GB" dirty="0"/>
              <a:t>Moderate performance</a:t>
            </a:r>
            <a:br>
              <a:rPr lang="en-GB" dirty="0"/>
            </a:br>
            <a:r>
              <a:rPr lang="en-GB" b="1" dirty="0"/>
              <a:t>Action:</a:t>
            </a:r>
            <a:r>
              <a:rPr lang="en-GB" dirty="0"/>
              <a:t> Standard pricing + early warning signals.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84175C-84D5-E65D-C221-9403C3A2A287}"/>
              </a:ext>
            </a:extLst>
          </p:cNvPr>
          <p:cNvSpPr txBox="1"/>
          <p:nvPr/>
        </p:nvSpPr>
        <p:spPr>
          <a:xfrm>
            <a:off x="1630294" y="4614853"/>
            <a:ext cx="102000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Segment 2 (Low Risk)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Excellent payment speed, low arrears</a:t>
            </a:r>
            <a:br>
              <a:rPr lang="en-GB" dirty="0"/>
            </a:br>
            <a:r>
              <a:rPr lang="en-GB" b="1" dirty="0"/>
              <a:t>Action:</a:t>
            </a:r>
            <a:r>
              <a:rPr lang="en-GB" dirty="0"/>
              <a:t> Offer lower pricing + increased limits.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619438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71A85-64CD-F87E-F645-F64A882C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3374" y="314529"/>
            <a:ext cx="8911687" cy="1280890"/>
          </a:xfrm>
        </p:spPr>
        <p:txBody>
          <a:bodyPr/>
          <a:lstStyle/>
          <a:p>
            <a:pPr algn="ctr"/>
            <a:r>
              <a:rPr lang="en-GB" b="1" dirty="0"/>
              <a:t>Risk-Based Pricing Recommendation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E8907-779F-B835-654A-B4BB36DC0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2424" cy="469609"/>
          </a:xfrm>
        </p:spPr>
        <p:txBody>
          <a:bodyPr>
            <a:noAutofit/>
          </a:bodyPr>
          <a:lstStyle/>
          <a:p>
            <a:pPr algn="ctr"/>
            <a:r>
              <a:rPr lang="en-GB" sz="3600" dirty="0"/>
              <a:t>Dynamic Pricing Is Required to Achieve Profitability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9452F-C165-1D11-C498-AE4B7D584F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400" dirty="0"/>
              <a:t>Pricing must be aligned with risk to recover expected losses.</a:t>
            </a:r>
          </a:p>
          <a:p>
            <a:pPr marL="0" indent="0">
              <a:buNone/>
            </a:pPr>
            <a:r>
              <a:rPr lang="en-GB" sz="2400" b="1" dirty="0"/>
              <a:t>Proposed Pricing Model:</a:t>
            </a:r>
            <a:endParaRPr lang="en-GB" sz="2400" dirty="0"/>
          </a:p>
          <a:p>
            <a:r>
              <a:rPr lang="en-GB" sz="2400" b="1" dirty="0"/>
              <a:t>Segment 1:</a:t>
            </a:r>
            <a:r>
              <a:rPr lang="en-GB" sz="2400" dirty="0"/>
              <a:t> +35–45% higher pricing</a:t>
            </a:r>
          </a:p>
          <a:p>
            <a:r>
              <a:rPr lang="en-GB" sz="2400" b="1" dirty="0"/>
              <a:t>Segment 0:</a:t>
            </a:r>
            <a:r>
              <a:rPr lang="en-GB" sz="2400" dirty="0"/>
              <a:t> +10–15%</a:t>
            </a:r>
          </a:p>
          <a:p>
            <a:r>
              <a:rPr lang="en-GB" sz="2400" b="1" dirty="0"/>
              <a:t>Segment 2:</a:t>
            </a:r>
            <a:r>
              <a:rPr lang="en-GB" sz="2400" dirty="0"/>
              <a:t> Discount or loyalty benefits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4CCED-8601-B4C3-7F72-E5A3028176A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400" b="1" dirty="0"/>
              <a:t>Rationale:</a:t>
            </a:r>
            <a:endParaRPr lang="en-GB" sz="2400" dirty="0"/>
          </a:p>
          <a:p>
            <a:r>
              <a:rPr lang="en-GB" sz="2400" dirty="0"/>
              <a:t>Losses are concentrated in Segment 1</a:t>
            </a:r>
          </a:p>
          <a:p>
            <a:r>
              <a:rPr lang="en-GB" sz="2400" dirty="0"/>
              <a:t>Price adjustments increase revenue per borrower</a:t>
            </a:r>
          </a:p>
          <a:p>
            <a:r>
              <a:rPr lang="en-GB" sz="2400" dirty="0"/>
              <a:t>Supports portfolio stability without mass rejections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46253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F505C-F354-6A02-3C25-7A3043651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04177"/>
            <a:ext cx="9144000" cy="1466291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Final Recommendations &amp; Path to Viability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FCFD6-F610-274B-DA20-1A142542F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30439"/>
            <a:ext cx="9144000" cy="3771116"/>
          </a:xfrm>
        </p:spPr>
        <p:txBody>
          <a:bodyPr>
            <a:normAutofit fontScale="40000" lnSpcReduction="20000"/>
          </a:bodyPr>
          <a:lstStyle/>
          <a:p>
            <a:pPr algn="ctr"/>
            <a:r>
              <a:rPr lang="en-GB" sz="7600" dirty="0"/>
              <a:t>Strategic Path to Profitability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5100" dirty="0"/>
              <a:t>✔ Immediate Adoption of Risk-Based Pricing, Current product is fundamentally mispriced.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5100" dirty="0"/>
              <a:t>✔ Use Alternative Data Features Operationally, Cashflow Volatility → central decision rule.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5100" dirty="0"/>
              <a:t>✔ Deploy Early Warning Indicators, Payment delays, partner risk spikes, chain-level disruptions.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5100" dirty="0"/>
              <a:t>✔ Phase Out Highest-Risk Customers, Segment 1 must be priced higher or reduced.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5100" dirty="0"/>
              <a:t>✔ Re-evaluate portfolio with new pricing, Expected NPV should move toward positive territory.</a:t>
            </a:r>
          </a:p>
        </p:txBody>
      </p:sp>
    </p:spTree>
    <p:extLst>
      <p:ext uri="{BB962C8B-B14F-4D97-AF65-F5344CB8AC3E}">
        <p14:creationId xmlns:p14="http://schemas.microsoft.com/office/powerpoint/2010/main" val="344722447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100</TotalTime>
  <Words>731</Words>
  <Application>Microsoft Office PowerPoint</Application>
  <PresentationFormat>Widescreen</PresentationFormat>
  <Paragraphs>105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Wisp</vt:lpstr>
      <vt:lpstr>Chain Forward Risk Assessment &amp; Profitability Study</vt:lpstr>
      <vt:lpstr>Understanding the Chain Forward Challenge</vt:lpstr>
      <vt:lpstr>End-to-End Risk Assessment Framework</vt:lpstr>
      <vt:lpstr>Data Sources</vt:lpstr>
      <vt:lpstr>Profitability Results (Key Insight)</vt:lpstr>
      <vt:lpstr>Current Default Rate (6%) Exceeds Break-Even (3.75%)</vt:lpstr>
      <vt:lpstr>Cashflow Volatility Is the Strongest Predictor of Default</vt:lpstr>
      <vt:lpstr>PowerPoint Presentation</vt:lpstr>
      <vt:lpstr>Customer Segmentation (K-Means)</vt:lpstr>
      <vt:lpstr>Segment Insights &amp; Risk Strategy</vt:lpstr>
      <vt:lpstr>Risk-Based Pricing Recommendation</vt:lpstr>
      <vt:lpstr>Final Recommendations &amp; Path to Viability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KingHenryMorgan</dc:creator>
  <cp:lastModifiedBy>KingHenryMorgan</cp:lastModifiedBy>
  <cp:revision>1</cp:revision>
  <dcterms:created xsi:type="dcterms:W3CDTF">2025-11-17T19:58:57Z</dcterms:created>
  <dcterms:modified xsi:type="dcterms:W3CDTF">2025-11-17T21:39:21Z</dcterms:modified>
</cp:coreProperties>
</file>